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9" r:id="rId4"/>
    <p:sldId id="286"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68DC9AE8-8CD8-4A02-B565-94383A003AD0}" type="datetimeFigureOut">
              <a:rPr lang="tr-TR" smtClean="0"/>
              <a:t>5.01.2026</a:t>
            </a:fld>
            <a:endParaRPr lang="tr-TR"/>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tr-T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02FFC5E9-BF85-4DDA-B96D-710D366FC524}" type="slidenum">
              <a:rPr lang="tr-TR" smtClean="0"/>
              <a:t>‹#›</a:t>
            </a:fld>
            <a:endParaRPr lang="tr-T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41160985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8DC9AE8-8CD8-4A02-B565-94383A003AD0}" type="datetimeFigureOut">
              <a:rPr lang="tr-TR" smtClean="0"/>
              <a:t>5.01.2026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FFC5E9-BF85-4DDA-B96D-710D366FC524}" type="slidenum">
              <a:rPr lang="tr-TR" smtClean="0"/>
              <a:t>‹#›</a:t>
            </a:fld>
            <a:endParaRPr lang="tr-TR"/>
          </a:p>
        </p:txBody>
      </p:sp>
    </p:spTree>
    <p:extLst>
      <p:ext uri="{BB962C8B-B14F-4D97-AF65-F5344CB8AC3E}">
        <p14:creationId xmlns:p14="http://schemas.microsoft.com/office/powerpoint/2010/main" val="1506933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8DC9AE8-8CD8-4A02-B565-94383A003AD0}" type="datetimeFigureOut">
              <a:rPr lang="tr-TR" smtClean="0"/>
              <a:t>5.01.2026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FFC5E9-BF85-4DDA-B96D-710D366FC524}" type="slidenum">
              <a:rPr lang="tr-TR" smtClean="0"/>
              <a:t>‹#›</a:t>
            </a:fld>
            <a:endParaRPr lang="tr-T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99938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68DC9AE8-8CD8-4A02-B565-94383A003AD0}" type="datetimeFigureOut">
              <a:rPr lang="tr-TR" smtClean="0"/>
              <a:t>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2FFC5E9-BF85-4DDA-B96D-710D366FC524}" type="slidenum">
              <a:rPr lang="tr-TR" smtClean="0"/>
              <a:t>‹#›</a:t>
            </a:fld>
            <a:endParaRPr lang="tr-TR"/>
          </a:p>
        </p:txBody>
      </p:sp>
    </p:spTree>
    <p:extLst>
      <p:ext uri="{BB962C8B-B14F-4D97-AF65-F5344CB8AC3E}">
        <p14:creationId xmlns:p14="http://schemas.microsoft.com/office/powerpoint/2010/main" val="4138486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tr-TR"/>
              <a:t>Asıl metin stillerini düzenlemek için tıklayın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68DC9AE8-8CD8-4A02-B565-94383A003AD0}" type="datetimeFigureOut">
              <a:rPr lang="tr-TR" smtClean="0"/>
              <a:t>5.01.2026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02FFC5E9-BF85-4DDA-B96D-710D366FC524}" type="slidenum">
              <a:rPr lang="tr-TR" smtClean="0"/>
              <a:t>‹#›</a:t>
            </a:fld>
            <a:endParaRPr lang="tr-TR"/>
          </a:p>
        </p:txBody>
      </p:sp>
    </p:spTree>
    <p:extLst>
      <p:ext uri="{BB962C8B-B14F-4D97-AF65-F5344CB8AC3E}">
        <p14:creationId xmlns:p14="http://schemas.microsoft.com/office/powerpoint/2010/main" val="926543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68DC9AE8-8CD8-4A02-B565-94383A003AD0}" type="datetimeFigureOut">
              <a:rPr lang="tr-TR" smtClean="0"/>
              <a:t>5.01.2026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02FFC5E9-BF85-4DDA-B96D-710D366FC524}" type="slidenum">
              <a:rPr lang="tr-TR" smtClean="0"/>
              <a:t>‹#›</a:t>
            </a:fld>
            <a:endParaRPr lang="tr-TR"/>
          </a:p>
        </p:txBody>
      </p:sp>
    </p:spTree>
    <p:extLst>
      <p:ext uri="{BB962C8B-B14F-4D97-AF65-F5344CB8AC3E}">
        <p14:creationId xmlns:p14="http://schemas.microsoft.com/office/powerpoint/2010/main" val="2393366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DC9AE8-8CD8-4A02-B565-94383A003AD0}" type="datetimeFigureOut">
              <a:rPr lang="tr-TR" smtClean="0"/>
              <a:t>5.01.2026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02FFC5E9-BF85-4DDA-B96D-710D366FC524}" type="slidenum">
              <a:rPr lang="tr-TR" smtClean="0"/>
              <a:t>‹#›</a:t>
            </a:fld>
            <a:endParaRPr lang="tr-TR"/>
          </a:p>
        </p:txBody>
      </p:sp>
    </p:spTree>
    <p:extLst>
      <p:ext uri="{BB962C8B-B14F-4D97-AF65-F5344CB8AC3E}">
        <p14:creationId xmlns:p14="http://schemas.microsoft.com/office/powerpoint/2010/main" val="1795357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tr-TR"/>
              <a:t>Asıl başlık stilini düzenlemek için tıklayın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8DC9AE8-8CD8-4A02-B565-94383A003AD0}" type="datetimeFigureOut">
              <a:rPr lang="tr-TR" smtClean="0"/>
              <a:t>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2FFC5E9-BF85-4DDA-B96D-710D366FC524}" type="slidenum">
              <a:rPr lang="tr-TR" smtClean="0"/>
              <a:t>‹#›</a:t>
            </a:fld>
            <a:endParaRPr lang="tr-TR"/>
          </a:p>
        </p:txBody>
      </p:sp>
    </p:spTree>
    <p:extLst>
      <p:ext uri="{BB962C8B-B14F-4D97-AF65-F5344CB8AC3E}">
        <p14:creationId xmlns:p14="http://schemas.microsoft.com/office/powerpoint/2010/main" val="156853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8DC9AE8-8CD8-4A02-B565-94383A003AD0}" type="datetimeFigureOut">
              <a:rPr lang="tr-TR" smtClean="0"/>
              <a:t>5.01.2026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2FFC5E9-BF85-4DDA-B96D-710D366FC524}" type="slidenum">
              <a:rPr lang="tr-TR" smtClean="0"/>
              <a:t>‹#›</a:t>
            </a:fld>
            <a:endParaRPr lang="tr-TR"/>
          </a:p>
        </p:txBody>
      </p:sp>
    </p:spTree>
    <p:extLst>
      <p:ext uri="{BB962C8B-B14F-4D97-AF65-F5344CB8AC3E}">
        <p14:creationId xmlns:p14="http://schemas.microsoft.com/office/powerpoint/2010/main" val="3794265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8DC9AE8-8CD8-4A02-B565-94383A003AD0}" type="datetimeFigureOut">
              <a:rPr lang="tr-TR" smtClean="0"/>
              <a:t>5.01.2026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FFC5E9-BF85-4DDA-B96D-710D366FC524}" type="slidenum">
              <a:rPr lang="tr-TR" smtClean="0"/>
              <a:t>‹#›</a:t>
            </a:fld>
            <a:endParaRPr lang="tr-TR"/>
          </a:p>
        </p:txBody>
      </p:sp>
    </p:spTree>
    <p:extLst>
      <p:ext uri="{BB962C8B-B14F-4D97-AF65-F5344CB8AC3E}">
        <p14:creationId xmlns:p14="http://schemas.microsoft.com/office/powerpoint/2010/main" val="568429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8DC9AE8-8CD8-4A02-B565-94383A003AD0}" type="datetimeFigureOut">
              <a:rPr lang="tr-TR" smtClean="0"/>
              <a:t>5.01.2026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2FFC5E9-BF85-4DDA-B96D-710D366FC524}" type="slidenum">
              <a:rPr lang="tr-TR" smtClean="0"/>
              <a:t>‹#›</a:t>
            </a:fld>
            <a:endParaRPr lang="tr-TR"/>
          </a:p>
        </p:txBody>
      </p:sp>
    </p:spTree>
    <p:extLst>
      <p:ext uri="{BB962C8B-B14F-4D97-AF65-F5344CB8AC3E}">
        <p14:creationId xmlns:p14="http://schemas.microsoft.com/office/powerpoint/2010/main" val="1896453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68DC9AE8-8CD8-4A02-B565-94383A003AD0}" type="datetimeFigureOut">
              <a:rPr lang="tr-TR" smtClean="0"/>
              <a:t>5.01.2026</a:t>
            </a:fld>
            <a:endParaRPr lang="tr-T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tr-T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02FFC5E9-BF85-4DDA-B96D-710D366FC524}" type="slidenum">
              <a:rPr lang="tr-TR" smtClean="0"/>
              <a:t>‹#›</a:t>
            </a:fld>
            <a:endParaRPr lang="tr-TR"/>
          </a:p>
        </p:txBody>
      </p:sp>
    </p:spTree>
    <p:extLst>
      <p:ext uri="{BB962C8B-B14F-4D97-AF65-F5344CB8AC3E}">
        <p14:creationId xmlns:p14="http://schemas.microsoft.com/office/powerpoint/2010/main" val="73130322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12CE445-F1D1-8668-2C46-F5F525A7EEA3}"/>
              </a:ext>
            </a:extLst>
          </p:cNvPr>
          <p:cNvSpPr>
            <a:spLocks noGrp="1"/>
          </p:cNvSpPr>
          <p:nvPr>
            <p:ph type="ctrTitle"/>
          </p:nvPr>
        </p:nvSpPr>
        <p:spPr>
          <a:xfrm>
            <a:off x="1198590" y="474691"/>
            <a:ext cx="10470495" cy="2620847"/>
          </a:xfrm>
        </p:spPr>
        <p:txBody>
          <a:bodyPr>
            <a:normAutofit/>
          </a:bodyPr>
          <a:lstStyle/>
          <a:p>
            <a:r>
              <a:rPr lang="tr-TR" sz="6000" dirty="0"/>
              <a:t>Mini Akıllı Fabrika - PLC Simulator Projesi</a:t>
            </a:r>
          </a:p>
        </p:txBody>
      </p:sp>
      <p:sp>
        <p:nvSpPr>
          <p:cNvPr id="5" name="Alt Başlık 4">
            <a:extLst>
              <a:ext uri="{FF2B5EF4-FFF2-40B4-BE49-F238E27FC236}">
                <a16:creationId xmlns:a16="http://schemas.microsoft.com/office/drawing/2014/main" id="{F3A40AA1-F537-7563-0EC1-4A502E549191}"/>
              </a:ext>
            </a:extLst>
          </p:cNvPr>
          <p:cNvSpPr>
            <a:spLocks noGrp="1"/>
          </p:cNvSpPr>
          <p:nvPr>
            <p:ph type="subTitle" idx="1"/>
          </p:nvPr>
        </p:nvSpPr>
        <p:spPr>
          <a:xfrm>
            <a:off x="1327355" y="4060723"/>
            <a:ext cx="9289556" cy="1919788"/>
          </a:xfrm>
        </p:spPr>
        <p:txBody>
          <a:bodyPr/>
          <a:lstStyle/>
          <a:p>
            <a:r>
              <a:rPr lang="tr-TR" dirty="0">
                <a:solidFill>
                  <a:schemeClr val="bg2">
                    <a:lumMod val="20000"/>
                    <a:lumOff val="80000"/>
                  </a:schemeClr>
                </a:solidFill>
              </a:rPr>
              <a:t>Ders: Bilgisayar Organizasyonu ve Mimari</a:t>
            </a:r>
          </a:p>
          <a:p>
            <a:r>
              <a:rPr lang="tr-TR" dirty="0">
                <a:solidFill>
                  <a:schemeClr val="bg2">
                    <a:lumMod val="20000"/>
                    <a:lumOff val="80000"/>
                  </a:schemeClr>
                </a:solidFill>
              </a:rPr>
              <a:t>Ad: Emir </a:t>
            </a:r>
            <a:r>
              <a:rPr lang="tr-TR" dirty="0" err="1">
                <a:solidFill>
                  <a:schemeClr val="bg2">
                    <a:lumMod val="20000"/>
                    <a:lumOff val="80000"/>
                  </a:schemeClr>
                </a:solidFill>
              </a:rPr>
              <a:t>İlgar</a:t>
            </a:r>
            <a:endParaRPr lang="tr-TR" dirty="0">
              <a:solidFill>
                <a:schemeClr val="bg2">
                  <a:lumMod val="20000"/>
                  <a:lumOff val="80000"/>
                </a:schemeClr>
              </a:solidFill>
            </a:endParaRPr>
          </a:p>
          <a:p>
            <a:r>
              <a:rPr lang="tr-TR" dirty="0">
                <a:solidFill>
                  <a:schemeClr val="bg2">
                    <a:lumMod val="20000"/>
                    <a:lumOff val="80000"/>
                  </a:schemeClr>
                </a:solidFill>
              </a:rPr>
              <a:t>No: 220710038</a:t>
            </a:r>
          </a:p>
        </p:txBody>
      </p:sp>
    </p:spTree>
    <p:extLst>
      <p:ext uri="{BB962C8B-B14F-4D97-AF65-F5344CB8AC3E}">
        <p14:creationId xmlns:p14="http://schemas.microsoft.com/office/powerpoint/2010/main" val="333937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DFE42B-FAF5-5D6B-1C07-1A9618FA3F7D}"/>
              </a:ext>
            </a:extLst>
          </p:cNvPr>
          <p:cNvSpPr>
            <a:spLocks noGrp="1"/>
          </p:cNvSpPr>
          <p:nvPr>
            <p:ph type="title"/>
          </p:nvPr>
        </p:nvSpPr>
        <p:spPr>
          <a:xfrm>
            <a:off x="2864249" y="317863"/>
            <a:ext cx="4294197" cy="755150"/>
          </a:xfrm>
        </p:spPr>
        <p:txBody>
          <a:bodyPr>
            <a:normAutofit/>
          </a:bodyPr>
          <a:lstStyle/>
          <a:p>
            <a:pPr algn="ctr"/>
            <a:r>
              <a:rPr lang="tr-TR" dirty="0"/>
              <a:t>Projenin Amacı</a:t>
            </a:r>
          </a:p>
        </p:txBody>
      </p:sp>
      <p:sp>
        <p:nvSpPr>
          <p:cNvPr id="3" name="İçerik Yer Tutucusu 2">
            <a:extLst>
              <a:ext uri="{FF2B5EF4-FFF2-40B4-BE49-F238E27FC236}">
                <a16:creationId xmlns:a16="http://schemas.microsoft.com/office/drawing/2014/main" id="{D2C44067-3C20-7EC8-3B32-7BD255536494}"/>
              </a:ext>
            </a:extLst>
          </p:cNvPr>
          <p:cNvSpPr>
            <a:spLocks noGrp="1"/>
          </p:cNvSpPr>
          <p:nvPr>
            <p:ph idx="1"/>
          </p:nvPr>
        </p:nvSpPr>
        <p:spPr>
          <a:xfrm>
            <a:off x="740309" y="1524000"/>
            <a:ext cx="9848675" cy="5016137"/>
          </a:xfrm>
        </p:spPr>
        <p:txBody>
          <a:bodyPr>
            <a:normAutofit fontScale="40000" lnSpcReduction="20000"/>
          </a:bodyPr>
          <a:lstStyle/>
          <a:p>
            <a:pPr marL="0" indent="0">
              <a:buNone/>
            </a:pPr>
            <a:r>
              <a:rPr lang="tr-TR" sz="4500" b="1" dirty="0">
                <a:solidFill>
                  <a:srgbClr val="FF0000"/>
                </a:solidFill>
              </a:rPr>
              <a:t>Bu Projede Amaç Neydi?</a:t>
            </a:r>
          </a:p>
          <a:p>
            <a:pPr>
              <a:lnSpc>
                <a:spcPct val="150000"/>
              </a:lnSpc>
              <a:spcBef>
                <a:spcPts val="2400"/>
              </a:spcBef>
              <a:buNone/>
            </a:pPr>
            <a:r>
              <a:rPr lang="tr-TR" sz="3800" dirty="0"/>
              <a:t>Bu projede küçük ölçekli bir üretim hattının nasıl kontrol edildiğini, sensörlerden gelen verilerin nasıl işlendiğini, hangi koşullarda makinenin çalıştırıldığını veya durdurulduğunu, güvenlik sistemlerinin nasıl devreye girdiğini ve tüm bu sürecin PLC mantığıyla nasıl yönetildiğini yazılımsal olarak modelledim.</a:t>
            </a:r>
          </a:p>
          <a:p>
            <a:pPr>
              <a:lnSpc>
                <a:spcPct val="150000"/>
              </a:lnSpc>
              <a:spcBef>
                <a:spcPts val="2400"/>
              </a:spcBef>
              <a:buNone/>
            </a:pPr>
            <a:r>
              <a:rPr lang="tr-TR" sz="3800" dirty="0"/>
              <a:t>Gerçek dünyada fabrikalarda kullanılan PLC (Programlanabilir Lojik Kontrolör) cihazlarının çalışma prensiplerini sade, anlaşılır fakat aynı zamanda teknik açıdan doğru şekilde anlatmayı hedefleyen bir simülasyon geliştirdim. Sistem, sensör girişlerini okuyup analiz eden, </a:t>
            </a:r>
            <a:r>
              <a:rPr lang="tr-TR" sz="3800" dirty="0" err="1"/>
              <a:t>ladder</a:t>
            </a:r>
            <a:r>
              <a:rPr lang="tr-TR" sz="3800" dirty="0"/>
              <a:t> (merdiven) mantığını çalıştıran, PID kontrolü uygulayan ve aktüatör çıkışlarını yöneten bütünleşik bir kontrol yapısı sunmaktadır.</a:t>
            </a:r>
          </a:p>
          <a:p>
            <a:pPr>
              <a:lnSpc>
                <a:spcPct val="150000"/>
              </a:lnSpc>
              <a:spcBef>
                <a:spcPts val="2400"/>
              </a:spcBef>
              <a:buNone/>
            </a:pPr>
            <a:r>
              <a:rPr lang="tr-TR" sz="3800" dirty="0"/>
              <a:t>Amacım; bir fabrika otomasyonunun nasıl çalıştığını yazılım üzerinden göstermek, öğrencilerin veya çalışanların PLC mantığını temel düzeyde öğrenebileceği bir eğitim aracı üretmek ve gerçek bir üretim hücresindeki kontrol döngüsünü simüle etmektir.</a:t>
            </a:r>
          </a:p>
          <a:p>
            <a:endParaRPr lang="tr-TR" dirty="0"/>
          </a:p>
        </p:txBody>
      </p:sp>
    </p:spTree>
    <p:extLst>
      <p:ext uri="{BB962C8B-B14F-4D97-AF65-F5344CB8AC3E}">
        <p14:creationId xmlns:p14="http://schemas.microsoft.com/office/powerpoint/2010/main" val="151975418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2AA0CF6-E2AC-0151-3338-F2AA3D2BDCA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5922BE-9102-A4D0-74F8-6A0CEEC08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5219169-C0BD-8D40-8CDB-E5FD88AF513B}"/>
              </a:ext>
            </a:extLst>
          </p:cNvPr>
          <p:cNvSpPr>
            <a:spLocks noGrp="1"/>
          </p:cNvSpPr>
          <p:nvPr>
            <p:ph type="title"/>
          </p:nvPr>
        </p:nvSpPr>
        <p:spPr>
          <a:xfrm>
            <a:off x="1010195" y="177542"/>
            <a:ext cx="9692640" cy="1325562"/>
          </a:xfrm>
        </p:spPr>
        <p:txBody>
          <a:bodyPr>
            <a:normAutofit/>
          </a:bodyPr>
          <a:lstStyle/>
          <a:p>
            <a:r>
              <a:rPr lang="tr-TR" dirty="0"/>
              <a:t>PLC Nedir?</a:t>
            </a:r>
          </a:p>
        </p:txBody>
      </p:sp>
      <p:sp>
        <p:nvSpPr>
          <p:cNvPr id="3" name="İçerik Yer Tutucusu 2">
            <a:extLst>
              <a:ext uri="{FF2B5EF4-FFF2-40B4-BE49-F238E27FC236}">
                <a16:creationId xmlns:a16="http://schemas.microsoft.com/office/drawing/2014/main" id="{309F1E36-AAB9-7B51-50B2-65243A1B99B9}"/>
              </a:ext>
            </a:extLst>
          </p:cNvPr>
          <p:cNvSpPr>
            <a:spLocks noGrp="1"/>
          </p:cNvSpPr>
          <p:nvPr>
            <p:ph idx="1"/>
          </p:nvPr>
        </p:nvSpPr>
        <p:spPr>
          <a:xfrm>
            <a:off x="1010195" y="1828800"/>
            <a:ext cx="9369552" cy="5029200"/>
          </a:xfrm>
        </p:spPr>
        <p:txBody>
          <a:bodyPr>
            <a:normAutofit lnSpcReduction="10000"/>
          </a:bodyPr>
          <a:lstStyle/>
          <a:p>
            <a:pPr>
              <a:lnSpc>
                <a:spcPct val="150000"/>
              </a:lnSpc>
              <a:buNone/>
            </a:pPr>
            <a:r>
              <a:rPr lang="tr-TR" dirty="0"/>
              <a:t>PLC, yani Programlanabilir Lojik Kontrolör, endüstride makineleri, sensörleri, motorları ve üretim hatlarını kontrol etmek için kullanılan dayanıklı bilgisayarlardır. </a:t>
            </a:r>
            <a:r>
              <a:rPr lang="tr-TR" dirty="0" err="1"/>
              <a:t>PLC’ler</a:t>
            </a:r>
            <a:r>
              <a:rPr lang="tr-TR" dirty="0"/>
              <a:t>, sürekli döngü (</a:t>
            </a:r>
            <a:r>
              <a:rPr lang="tr-TR" dirty="0" err="1"/>
              <a:t>scan</a:t>
            </a:r>
            <a:r>
              <a:rPr lang="tr-TR" dirty="0"/>
              <a:t> </a:t>
            </a:r>
            <a:r>
              <a:rPr lang="tr-TR" dirty="0" err="1"/>
              <a:t>cycle</a:t>
            </a:r>
            <a:r>
              <a:rPr lang="tr-TR" dirty="0"/>
              <a:t>) mantığıyla çalışır; her döngüde sensörleri okur, mantık kurallarını çalıştırır, çıkış değerlerini günceller ve üretimi güvenli şekilde yönetir.</a:t>
            </a:r>
          </a:p>
          <a:p>
            <a:pPr>
              <a:lnSpc>
                <a:spcPct val="150000"/>
              </a:lnSpc>
              <a:buNone/>
            </a:pPr>
            <a:r>
              <a:rPr lang="tr-TR" dirty="0"/>
              <a:t>Gerçek dünyada fabrikadaki neredeyse tüm cihazlar PLC üzerinden kontrol edilir: robot kollar, konveyör bantlar, motorlar, fırınlar, pompalar, basınç sistemleri, sıcaklık kontrol sistemleri ve daha fazlası.</a:t>
            </a:r>
          </a:p>
          <a:p>
            <a:pPr>
              <a:lnSpc>
                <a:spcPct val="150000"/>
              </a:lnSpc>
              <a:buNone/>
            </a:pPr>
            <a:r>
              <a:rPr lang="tr-TR" dirty="0"/>
              <a:t>Bu projede ben de küçük bir </a:t>
            </a:r>
            <a:r>
              <a:rPr lang="tr-TR" dirty="0" err="1"/>
              <a:t>PLC’nin</a:t>
            </a:r>
            <a:r>
              <a:rPr lang="tr-TR" dirty="0"/>
              <a:t> yazılımsal karşılığını oluşturdum.</a:t>
            </a:r>
            <a:br>
              <a:rPr lang="tr-TR" dirty="0"/>
            </a:br>
            <a:r>
              <a:rPr lang="tr-TR" dirty="0"/>
              <a:t>Yani kendi kodum gerçek bir PLC gibi davranır: girişleri okur, karar verir, çıkışlara komut gönderir ve bunu kesintisiz bir döngü içinde yapar.</a:t>
            </a:r>
          </a:p>
          <a:p>
            <a:pPr marL="0" indent="0">
              <a:buNone/>
            </a:pPr>
            <a:endParaRPr lang="tr-TR" sz="1500" dirty="0"/>
          </a:p>
        </p:txBody>
      </p:sp>
      <p:sp>
        <p:nvSpPr>
          <p:cNvPr id="10" name="Rectangle 9">
            <a:extLst>
              <a:ext uri="{FF2B5EF4-FFF2-40B4-BE49-F238E27FC236}">
                <a16:creationId xmlns:a16="http://schemas.microsoft.com/office/drawing/2014/main" id="{0EB2859B-DF44-9E76-B46E-D4C7DB4C2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234228937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B27AB815-F61B-E3BE-CF4C-EDEF52B12B6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61DE4B-7EF4-172A-B066-602B713E9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B677C43-9A71-6FCD-3540-EFECBE15B7B2}"/>
              </a:ext>
            </a:extLst>
          </p:cNvPr>
          <p:cNvSpPr>
            <a:spLocks noGrp="1"/>
          </p:cNvSpPr>
          <p:nvPr>
            <p:ph type="title"/>
          </p:nvPr>
        </p:nvSpPr>
        <p:spPr>
          <a:xfrm>
            <a:off x="1010195" y="177542"/>
            <a:ext cx="9692640" cy="805684"/>
          </a:xfrm>
        </p:spPr>
        <p:txBody>
          <a:bodyPr>
            <a:normAutofit/>
          </a:bodyPr>
          <a:lstStyle/>
          <a:p>
            <a:r>
              <a:rPr lang="tr-TR" dirty="0" err="1"/>
              <a:t>Von</a:t>
            </a:r>
            <a:r>
              <a:rPr lang="tr-TR" dirty="0"/>
              <a:t> Neumann Mimarisi</a:t>
            </a:r>
          </a:p>
        </p:txBody>
      </p:sp>
      <p:sp>
        <p:nvSpPr>
          <p:cNvPr id="3" name="İçerik Yer Tutucusu 2">
            <a:extLst>
              <a:ext uri="{FF2B5EF4-FFF2-40B4-BE49-F238E27FC236}">
                <a16:creationId xmlns:a16="http://schemas.microsoft.com/office/drawing/2014/main" id="{4E4CDBA4-829E-5028-6625-1BE11F8B897D}"/>
              </a:ext>
            </a:extLst>
          </p:cNvPr>
          <p:cNvSpPr>
            <a:spLocks noGrp="1"/>
          </p:cNvSpPr>
          <p:nvPr>
            <p:ph idx="1"/>
          </p:nvPr>
        </p:nvSpPr>
        <p:spPr>
          <a:xfrm>
            <a:off x="196645" y="1160769"/>
            <a:ext cx="10183102" cy="5697232"/>
          </a:xfrm>
        </p:spPr>
        <p:txBody>
          <a:bodyPr>
            <a:normAutofit fontScale="92500" lnSpcReduction="20000"/>
          </a:bodyPr>
          <a:lstStyle/>
          <a:p>
            <a:pPr marL="0" indent="0">
              <a:lnSpc>
                <a:spcPct val="110000"/>
              </a:lnSpc>
              <a:buNone/>
            </a:pPr>
            <a:r>
              <a:rPr lang="tr-TR" dirty="0">
                <a:solidFill>
                  <a:srgbClr val="FF0000"/>
                </a:solidFill>
              </a:rPr>
              <a:t>Ortak Bellek Yapısı:</a:t>
            </a:r>
          </a:p>
          <a:p>
            <a:pPr marL="0" indent="0">
              <a:lnSpc>
                <a:spcPct val="110000"/>
              </a:lnSpc>
              <a:buNone/>
            </a:pPr>
            <a:r>
              <a:rPr lang="nn-NO" b="1" dirty="0"/>
              <a:t>Teori:</a:t>
            </a:r>
            <a:r>
              <a:rPr lang="nn-NO" dirty="0"/>
              <a:t> Von Neumann mimarisinde veri ve komutlar aynı bellek biriminde saklanır.</a:t>
            </a:r>
            <a:endParaRPr lang="tr-TR" dirty="0"/>
          </a:p>
          <a:p>
            <a:pPr marL="0" indent="0">
              <a:lnSpc>
                <a:spcPct val="110000"/>
              </a:lnSpc>
              <a:buNone/>
            </a:pPr>
            <a:r>
              <a:rPr lang="tr-TR" b="1" dirty="0"/>
              <a:t>Projedeki Karşılığı:</a:t>
            </a:r>
            <a:r>
              <a:rPr lang="tr-TR" dirty="0"/>
              <a:t> Bellek sınıfı (Dictionary yapısı); hem sensör verilerini (Data) hem de sistemin o anki durum bayraklarını (</a:t>
            </a:r>
            <a:r>
              <a:rPr lang="tr-TR" dirty="0" err="1"/>
              <a:t>State</a:t>
            </a:r>
            <a:r>
              <a:rPr lang="tr-TR" dirty="0"/>
              <a:t>/</a:t>
            </a:r>
            <a:r>
              <a:rPr lang="tr-TR" dirty="0" err="1"/>
              <a:t>Instructions</a:t>
            </a:r>
            <a:r>
              <a:rPr lang="tr-TR" dirty="0"/>
              <a:t>) aynı havuzda tutar.</a:t>
            </a:r>
          </a:p>
          <a:p>
            <a:pPr marL="0" indent="0">
              <a:lnSpc>
                <a:spcPct val="110000"/>
              </a:lnSpc>
              <a:buNone/>
            </a:pPr>
            <a:r>
              <a:rPr lang="tr-TR" dirty="0">
                <a:solidFill>
                  <a:srgbClr val="FF0000"/>
                </a:solidFill>
              </a:rPr>
              <a:t>Merkezi İşlem Birimi:</a:t>
            </a:r>
          </a:p>
          <a:p>
            <a:pPr marL="0" indent="0">
              <a:lnSpc>
                <a:spcPct val="110000"/>
              </a:lnSpc>
              <a:buNone/>
            </a:pPr>
            <a:r>
              <a:rPr lang="tr-TR" b="1" dirty="0"/>
              <a:t>Teori:</a:t>
            </a:r>
            <a:r>
              <a:rPr lang="tr-TR" dirty="0"/>
              <a:t> CPU, bellekteki komutları sırayla getirir ve işler.</a:t>
            </a:r>
          </a:p>
          <a:p>
            <a:pPr marL="0" indent="0">
              <a:lnSpc>
                <a:spcPct val="110000"/>
              </a:lnSpc>
              <a:buNone/>
            </a:pPr>
            <a:r>
              <a:rPr lang="tr-TR" b="1" dirty="0"/>
              <a:t>Projedeki Karşılığı:</a:t>
            </a:r>
            <a:r>
              <a:rPr lang="tr-TR" dirty="0"/>
              <a:t> Ana </a:t>
            </a:r>
            <a:r>
              <a:rPr lang="tr-TR" dirty="0" err="1"/>
              <a:t>While</a:t>
            </a:r>
            <a:r>
              <a:rPr lang="tr-TR" dirty="0"/>
              <a:t> döngüsü ve </a:t>
            </a:r>
            <a:r>
              <a:rPr lang="tr-TR" dirty="0" err="1"/>
              <a:t>Thread</a:t>
            </a:r>
            <a:r>
              <a:rPr lang="tr-TR" dirty="0"/>
              <a:t> yapısı, bir </a:t>
            </a:r>
            <a:r>
              <a:rPr lang="tr-TR" b="1" dirty="0"/>
              <a:t>Control </a:t>
            </a:r>
            <a:r>
              <a:rPr lang="tr-TR" b="1" dirty="0" err="1"/>
              <a:t>Unit</a:t>
            </a:r>
            <a:r>
              <a:rPr lang="tr-TR" dirty="0"/>
              <a:t> gibi davranarak sürekli bellekten veri çeker (</a:t>
            </a:r>
            <a:r>
              <a:rPr lang="tr-TR" dirty="0" err="1"/>
              <a:t>Fetch</a:t>
            </a:r>
            <a:r>
              <a:rPr lang="tr-TR" dirty="0"/>
              <a:t>) ve işler.</a:t>
            </a:r>
          </a:p>
          <a:p>
            <a:pPr marL="0" indent="0">
              <a:lnSpc>
                <a:spcPct val="110000"/>
              </a:lnSpc>
              <a:buNone/>
            </a:pPr>
            <a:r>
              <a:rPr lang="tr-TR" dirty="0" err="1">
                <a:solidFill>
                  <a:srgbClr val="FF0000"/>
                </a:solidFill>
              </a:rPr>
              <a:t>Fetch-Decode-Execute</a:t>
            </a:r>
            <a:r>
              <a:rPr lang="tr-TR" dirty="0">
                <a:solidFill>
                  <a:srgbClr val="FF0000"/>
                </a:solidFill>
              </a:rPr>
              <a:t> Döngüsü:</a:t>
            </a:r>
          </a:p>
          <a:p>
            <a:pPr marL="0" indent="0">
              <a:lnSpc>
                <a:spcPct val="110000"/>
              </a:lnSpc>
              <a:buNone/>
            </a:pPr>
            <a:r>
              <a:rPr lang="tr-TR" b="1" dirty="0"/>
              <a:t>Teori:</a:t>
            </a:r>
            <a:r>
              <a:rPr lang="tr-TR" dirty="0"/>
              <a:t> İşlemci sürekli "Getir - Çöz - Uygula" döngüsünde çalışır.</a:t>
            </a:r>
          </a:p>
          <a:p>
            <a:pPr marL="0" indent="0">
              <a:lnSpc>
                <a:spcPct val="110000"/>
              </a:lnSpc>
              <a:buNone/>
            </a:pPr>
            <a:r>
              <a:rPr lang="tr-TR" b="1" dirty="0"/>
              <a:t>Projedeki Karşılığı: </a:t>
            </a:r>
          </a:p>
          <a:p>
            <a:pPr marL="0" indent="0">
              <a:lnSpc>
                <a:spcPct val="110000"/>
              </a:lnSpc>
              <a:buNone/>
            </a:pPr>
            <a:r>
              <a:rPr lang="tr-TR" dirty="0" err="1"/>
              <a:t>Fetch</a:t>
            </a:r>
            <a:r>
              <a:rPr lang="tr-TR" dirty="0"/>
              <a:t> (Getir): Sensör verilerinin bellek adreslerinden ([1000], [1004]) okunması.</a:t>
            </a:r>
          </a:p>
          <a:p>
            <a:pPr marL="0" indent="0">
              <a:lnSpc>
                <a:spcPct val="110000"/>
              </a:lnSpc>
              <a:buNone/>
            </a:pPr>
            <a:r>
              <a:rPr lang="tr-TR" dirty="0" err="1"/>
              <a:t>Decode</a:t>
            </a:r>
            <a:r>
              <a:rPr lang="tr-TR" dirty="0"/>
              <a:t> (Çöz): </a:t>
            </a:r>
            <a:r>
              <a:rPr lang="tr-TR" dirty="0" err="1"/>
              <a:t>Ladder</a:t>
            </a:r>
            <a:r>
              <a:rPr lang="tr-TR" dirty="0"/>
              <a:t> Mantığı (</a:t>
            </a:r>
            <a:r>
              <a:rPr lang="tr-TR" dirty="0" err="1"/>
              <a:t>if</a:t>
            </a:r>
            <a:r>
              <a:rPr lang="tr-TR" dirty="0"/>
              <a:t>-else blokları) ile verinin yorumlanması.</a:t>
            </a:r>
          </a:p>
          <a:p>
            <a:pPr marL="0" indent="0">
              <a:lnSpc>
                <a:spcPct val="110000"/>
              </a:lnSpc>
              <a:buNone/>
            </a:pPr>
            <a:r>
              <a:rPr lang="tr-TR" dirty="0" err="1"/>
              <a:t>Execute</a:t>
            </a:r>
            <a:r>
              <a:rPr lang="tr-TR" dirty="0"/>
              <a:t> (Uygula): Çıkan sonuca göre Aktüatörlerin ([2000]) tetiklenmesi.</a:t>
            </a:r>
          </a:p>
          <a:p>
            <a:pPr marL="0" indent="0">
              <a:lnSpc>
                <a:spcPct val="150000"/>
              </a:lnSpc>
              <a:buNone/>
            </a:pPr>
            <a:endParaRPr lang="tr-TR" dirty="0"/>
          </a:p>
          <a:p>
            <a:pPr marL="0" indent="0">
              <a:buNone/>
            </a:pPr>
            <a:endParaRPr lang="tr-TR" sz="1500" dirty="0"/>
          </a:p>
        </p:txBody>
      </p:sp>
      <p:sp>
        <p:nvSpPr>
          <p:cNvPr id="10" name="Rectangle 9">
            <a:extLst>
              <a:ext uri="{FF2B5EF4-FFF2-40B4-BE49-F238E27FC236}">
                <a16:creationId xmlns:a16="http://schemas.microsoft.com/office/drawing/2014/main" id="{B4D9866C-CAD2-9C62-26A0-7DE036A0E0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269864517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B585E03C-02DF-63A6-0F11-F98FEF77BCA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6184EA-220B-0854-912F-1D78E74DA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88336B7-AEF3-F02C-BB4A-C95CB445411D}"/>
              </a:ext>
            </a:extLst>
          </p:cNvPr>
          <p:cNvSpPr>
            <a:spLocks noGrp="1"/>
          </p:cNvSpPr>
          <p:nvPr>
            <p:ph type="title"/>
          </p:nvPr>
        </p:nvSpPr>
        <p:spPr>
          <a:xfrm>
            <a:off x="1010195" y="157878"/>
            <a:ext cx="9692640" cy="1325562"/>
          </a:xfrm>
        </p:spPr>
        <p:txBody>
          <a:bodyPr>
            <a:normAutofit/>
          </a:bodyPr>
          <a:lstStyle/>
          <a:p>
            <a:r>
              <a:rPr lang="tr-TR" dirty="0"/>
              <a:t>Sistemin Genel Yapısı</a:t>
            </a:r>
          </a:p>
        </p:txBody>
      </p:sp>
      <p:sp>
        <p:nvSpPr>
          <p:cNvPr id="3" name="İçerik Yer Tutucusu 2">
            <a:extLst>
              <a:ext uri="{FF2B5EF4-FFF2-40B4-BE49-F238E27FC236}">
                <a16:creationId xmlns:a16="http://schemas.microsoft.com/office/drawing/2014/main" id="{65728892-44F8-3722-561B-E27A30A36C5E}"/>
              </a:ext>
            </a:extLst>
          </p:cNvPr>
          <p:cNvSpPr>
            <a:spLocks noGrp="1"/>
          </p:cNvSpPr>
          <p:nvPr>
            <p:ph idx="1"/>
          </p:nvPr>
        </p:nvSpPr>
        <p:spPr>
          <a:xfrm>
            <a:off x="1010195" y="1828800"/>
            <a:ext cx="9369552" cy="5029200"/>
          </a:xfrm>
        </p:spPr>
        <p:txBody>
          <a:bodyPr>
            <a:normAutofit/>
          </a:bodyPr>
          <a:lstStyle/>
          <a:p>
            <a:pPr marL="0" indent="0">
              <a:lnSpc>
                <a:spcPct val="150000"/>
              </a:lnSpc>
              <a:buNone/>
            </a:pPr>
            <a:r>
              <a:rPr lang="tr-TR" sz="1600" b="1" dirty="0">
                <a:solidFill>
                  <a:srgbClr val="FF0000"/>
                </a:solidFill>
              </a:rPr>
              <a:t>1.Bellek (Memory)</a:t>
            </a:r>
            <a:br>
              <a:rPr lang="tr-TR" sz="1600" dirty="0">
                <a:solidFill>
                  <a:srgbClr val="FF0000"/>
                </a:solidFill>
              </a:rPr>
            </a:br>
            <a:r>
              <a:rPr lang="tr-TR" sz="1600" dirty="0"/>
              <a:t>Sensörlerden aktüatörlere kadar tüm değerler bellekte adreslere yazılır ve bu adresler üzerinden okunur.</a:t>
            </a:r>
          </a:p>
          <a:p>
            <a:pPr marL="0" indent="0">
              <a:lnSpc>
                <a:spcPct val="150000"/>
              </a:lnSpc>
              <a:buNone/>
            </a:pPr>
            <a:r>
              <a:rPr lang="tr-TR" sz="1600" b="1" dirty="0">
                <a:solidFill>
                  <a:srgbClr val="FF0000"/>
                </a:solidFill>
              </a:rPr>
              <a:t>2.Registerlar</a:t>
            </a:r>
            <a:br>
              <a:rPr lang="tr-TR" sz="1600" dirty="0"/>
            </a:br>
            <a:r>
              <a:rPr lang="tr-TR" sz="1600" dirty="0"/>
              <a:t>Anlık hesaplamaların, geçici değerlerin ya da işlemler sırasında kullanılan ara sonuçların tutulduğu küçük veri alanlarıdır.</a:t>
            </a:r>
          </a:p>
          <a:p>
            <a:pPr marL="0" indent="0">
              <a:lnSpc>
                <a:spcPct val="150000"/>
              </a:lnSpc>
              <a:buNone/>
            </a:pPr>
            <a:r>
              <a:rPr lang="tr-TR" sz="1600" b="1" dirty="0">
                <a:solidFill>
                  <a:srgbClr val="FF0000"/>
                </a:solidFill>
              </a:rPr>
              <a:t>3.Sensörler</a:t>
            </a:r>
            <a:br>
              <a:rPr lang="tr-TR" sz="1600" dirty="0"/>
            </a:br>
            <a:r>
              <a:rPr lang="tr-TR" sz="1600" dirty="0"/>
              <a:t>Sistemin dış dünyayı “okumasını” sağlayan giriş birimleridir. Hammadde durumu, sıcaklık, basınç, operatör varlığı gibi bilgileri simüle eder.</a:t>
            </a:r>
          </a:p>
          <a:p>
            <a:pPr marL="0" indent="0">
              <a:lnSpc>
                <a:spcPct val="150000"/>
              </a:lnSpc>
              <a:buNone/>
            </a:pPr>
            <a:endParaRPr lang="tr-TR" sz="1500" dirty="0"/>
          </a:p>
        </p:txBody>
      </p:sp>
      <p:sp>
        <p:nvSpPr>
          <p:cNvPr id="10" name="Rectangle 9">
            <a:extLst>
              <a:ext uri="{FF2B5EF4-FFF2-40B4-BE49-F238E27FC236}">
                <a16:creationId xmlns:a16="http://schemas.microsoft.com/office/drawing/2014/main" id="{245EA6D5-274C-7D0F-1404-19A632F7F1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3224168091"/>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4BF60BEB-80AF-5EA9-BE5A-06D8CFB8FE6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53EFE83-FC47-2216-6412-1F5029288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8D21F9E-0F16-AA6D-4A2B-F4FD5DB099C8}"/>
              </a:ext>
            </a:extLst>
          </p:cNvPr>
          <p:cNvSpPr>
            <a:spLocks noGrp="1"/>
          </p:cNvSpPr>
          <p:nvPr>
            <p:ph type="title"/>
          </p:nvPr>
        </p:nvSpPr>
        <p:spPr>
          <a:xfrm>
            <a:off x="687107" y="148046"/>
            <a:ext cx="9692640" cy="984068"/>
          </a:xfrm>
        </p:spPr>
        <p:txBody>
          <a:bodyPr>
            <a:normAutofit/>
          </a:bodyPr>
          <a:lstStyle/>
          <a:p>
            <a:r>
              <a:rPr lang="tr-TR" dirty="0"/>
              <a:t>Sistemin Genel Yapısı</a:t>
            </a:r>
          </a:p>
        </p:txBody>
      </p:sp>
      <p:sp>
        <p:nvSpPr>
          <p:cNvPr id="3" name="İçerik Yer Tutucusu 2">
            <a:extLst>
              <a:ext uri="{FF2B5EF4-FFF2-40B4-BE49-F238E27FC236}">
                <a16:creationId xmlns:a16="http://schemas.microsoft.com/office/drawing/2014/main" id="{767269BF-96D6-5E4E-95F8-89633C21F3A8}"/>
              </a:ext>
            </a:extLst>
          </p:cNvPr>
          <p:cNvSpPr>
            <a:spLocks noGrp="1"/>
          </p:cNvSpPr>
          <p:nvPr>
            <p:ph idx="1"/>
          </p:nvPr>
        </p:nvSpPr>
        <p:spPr>
          <a:xfrm>
            <a:off x="687107" y="1621654"/>
            <a:ext cx="9692640" cy="5236346"/>
          </a:xfrm>
        </p:spPr>
        <p:txBody>
          <a:bodyPr>
            <a:normAutofit/>
          </a:bodyPr>
          <a:lstStyle/>
          <a:p>
            <a:pPr marL="0" indent="0">
              <a:lnSpc>
                <a:spcPct val="150000"/>
              </a:lnSpc>
              <a:buNone/>
            </a:pPr>
            <a:r>
              <a:rPr lang="tr-TR" sz="1700" b="1" dirty="0">
                <a:solidFill>
                  <a:srgbClr val="FF0000"/>
                </a:solidFill>
              </a:rPr>
              <a:t>4.Ladder </a:t>
            </a:r>
            <a:r>
              <a:rPr lang="tr-TR" sz="1700" b="1" dirty="0" err="1">
                <a:solidFill>
                  <a:srgbClr val="FF0000"/>
                </a:solidFill>
              </a:rPr>
              <a:t>Logic</a:t>
            </a:r>
            <a:r>
              <a:rPr lang="tr-TR" sz="1700" b="1" dirty="0">
                <a:solidFill>
                  <a:srgbClr val="FF0000"/>
                </a:solidFill>
              </a:rPr>
              <a:t> (Merdiven Mantığı)</a:t>
            </a:r>
            <a:br>
              <a:rPr lang="tr-TR" sz="1700" b="1" dirty="0">
                <a:solidFill>
                  <a:srgbClr val="C00000"/>
                </a:solidFill>
              </a:rPr>
            </a:br>
            <a:r>
              <a:rPr lang="tr-TR" sz="1500" dirty="0" err="1"/>
              <a:t>PLC’lerde</a:t>
            </a:r>
            <a:r>
              <a:rPr lang="tr-TR" sz="1500" dirty="0"/>
              <a:t> kullanılan grafiksel mantık yapısının yazılımsal olarak yorumlanmış hâlidir.</a:t>
            </a:r>
            <a:br>
              <a:rPr lang="tr-TR" sz="1500" dirty="0"/>
            </a:br>
            <a:r>
              <a:rPr lang="tr-TR" sz="1500" dirty="0"/>
              <a:t>Koşul → Eylem ilişkilerini yönetir.</a:t>
            </a:r>
          </a:p>
          <a:p>
            <a:pPr marL="0" indent="0">
              <a:lnSpc>
                <a:spcPct val="150000"/>
              </a:lnSpc>
              <a:buNone/>
            </a:pPr>
            <a:r>
              <a:rPr lang="tr-TR" sz="1600" b="1" dirty="0">
                <a:solidFill>
                  <a:srgbClr val="FF0000"/>
                </a:solidFill>
              </a:rPr>
              <a:t>5.PID Kontrolörü</a:t>
            </a:r>
            <a:br>
              <a:rPr lang="tr-TR" sz="1600" dirty="0"/>
            </a:br>
            <a:r>
              <a:rPr lang="tr-TR" sz="1600" dirty="0"/>
              <a:t>Özellikle motor hızının, sıcaklığın veya diğer analog değerlerin dengeli şekilde kontrol edilmesini sağlar.</a:t>
            </a:r>
          </a:p>
          <a:p>
            <a:pPr marL="0" indent="0">
              <a:lnSpc>
                <a:spcPct val="150000"/>
              </a:lnSpc>
              <a:buNone/>
            </a:pPr>
            <a:r>
              <a:rPr lang="tr-TR" sz="1700" b="1" dirty="0">
                <a:solidFill>
                  <a:srgbClr val="FF0000"/>
                </a:solidFill>
              </a:rPr>
              <a:t>6.Aktüatörler</a:t>
            </a:r>
            <a:br>
              <a:rPr lang="tr-TR" sz="1600" dirty="0"/>
            </a:br>
            <a:r>
              <a:rPr lang="tr-TR" sz="1600" dirty="0" err="1"/>
              <a:t>PLC’nin</a:t>
            </a:r>
            <a:r>
              <a:rPr lang="tr-TR" sz="1600" dirty="0"/>
              <a:t> kontrol ettiği çıkış birimleridir: makine aç/kapat, motor PWM ayarlama, alarm sistemi gibi.</a:t>
            </a:r>
          </a:p>
          <a:p>
            <a:pPr marL="0" indent="0">
              <a:lnSpc>
                <a:spcPct val="150000"/>
              </a:lnSpc>
              <a:buNone/>
            </a:pPr>
            <a:r>
              <a:rPr lang="tr-TR" sz="1700" b="1" dirty="0">
                <a:solidFill>
                  <a:srgbClr val="FF0000"/>
                </a:solidFill>
              </a:rPr>
              <a:t>7.Ana Döngü (</a:t>
            </a:r>
            <a:r>
              <a:rPr lang="tr-TR" sz="1700" b="1" dirty="0" err="1">
                <a:solidFill>
                  <a:srgbClr val="FF0000"/>
                </a:solidFill>
              </a:rPr>
              <a:t>Scan</a:t>
            </a:r>
            <a:r>
              <a:rPr lang="tr-TR" sz="1700" b="1" dirty="0">
                <a:solidFill>
                  <a:srgbClr val="FF0000"/>
                </a:solidFill>
              </a:rPr>
              <a:t> </a:t>
            </a:r>
            <a:r>
              <a:rPr lang="tr-TR" sz="1700" b="1" dirty="0" err="1">
                <a:solidFill>
                  <a:srgbClr val="FF0000"/>
                </a:solidFill>
              </a:rPr>
              <a:t>Cycle</a:t>
            </a:r>
            <a:r>
              <a:rPr lang="tr-TR" sz="1700" b="1" dirty="0">
                <a:solidFill>
                  <a:srgbClr val="FF0000"/>
                </a:solidFill>
              </a:rPr>
              <a:t>)</a:t>
            </a:r>
            <a:br>
              <a:rPr lang="tr-TR" sz="1700" dirty="0">
                <a:solidFill>
                  <a:srgbClr val="FF0000"/>
                </a:solidFill>
              </a:rPr>
            </a:br>
            <a:r>
              <a:rPr lang="tr-TR" sz="1600" dirty="0"/>
              <a:t>Tüm bu bileşenleri her saniye tarayan ve güncelleyen sürekli çalışan döngü.</a:t>
            </a:r>
          </a:p>
        </p:txBody>
      </p:sp>
      <p:sp>
        <p:nvSpPr>
          <p:cNvPr id="10" name="Rectangle 9">
            <a:extLst>
              <a:ext uri="{FF2B5EF4-FFF2-40B4-BE49-F238E27FC236}">
                <a16:creationId xmlns:a16="http://schemas.microsoft.com/office/drawing/2014/main" id="{9276C04C-F017-6D1F-49C4-6C77971F6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191032822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23222C9-940B-FAFD-3381-EA5ECE3A242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ED53EB4-2274-F202-BE06-8D6B2210A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04F0BAF-B63D-5FC4-52CF-8CFB182152F6}"/>
              </a:ext>
            </a:extLst>
          </p:cNvPr>
          <p:cNvSpPr>
            <a:spLocks noGrp="1"/>
          </p:cNvSpPr>
          <p:nvPr>
            <p:ph type="title"/>
          </p:nvPr>
        </p:nvSpPr>
        <p:spPr>
          <a:xfrm>
            <a:off x="687107" y="148046"/>
            <a:ext cx="9692640" cy="984068"/>
          </a:xfrm>
        </p:spPr>
        <p:txBody>
          <a:bodyPr>
            <a:normAutofit/>
          </a:bodyPr>
          <a:lstStyle/>
          <a:p>
            <a:r>
              <a:rPr lang="tr-TR" dirty="0"/>
              <a:t>Bellek Yapısı (Memory </a:t>
            </a:r>
            <a:r>
              <a:rPr lang="tr-TR" dirty="0" err="1"/>
              <a:t>Map</a:t>
            </a:r>
            <a:r>
              <a:rPr lang="tr-TR" dirty="0"/>
              <a:t>)</a:t>
            </a:r>
          </a:p>
        </p:txBody>
      </p:sp>
      <p:sp>
        <p:nvSpPr>
          <p:cNvPr id="3" name="İçerik Yer Tutucusu 2">
            <a:extLst>
              <a:ext uri="{FF2B5EF4-FFF2-40B4-BE49-F238E27FC236}">
                <a16:creationId xmlns:a16="http://schemas.microsoft.com/office/drawing/2014/main" id="{CFB37F05-14EE-D76F-20D1-30076FE5D3D3}"/>
              </a:ext>
            </a:extLst>
          </p:cNvPr>
          <p:cNvSpPr>
            <a:spLocks noGrp="1"/>
          </p:cNvSpPr>
          <p:nvPr>
            <p:ph idx="1"/>
          </p:nvPr>
        </p:nvSpPr>
        <p:spPr>
          <a:xfrm>
            <a:off x="268448" y="1468073"/>
            <a:ext cx="10612073" cy="5241881"/>
          </a:xfrm>
        </p:spPr>
        <p:txBody>
          <a:bodyPr>
            <a:noAutofit/>
          </a:bodyPr>
          <a:lstStyle/>
          <a:p>
            <a:pPr>
              <a:lnSpc>
                <a:spcPct val="100000"/>
              </a:lnSpc>
            </a:pPr>
            <a:r>
              <a:rPr lang="tr-TR" sz="1700" dirty="0"/>
              <a:t>Bu projede belleğin önemi büyüktür çünkü PLC mantığında her şey bir adres–değer yapısı üzerinden işler.</a:t>
            </a:r>
          </a:p>
          <a:p>
            <a:pPr>
              <a:lnSpc>
                <a:spcPct val="100000"/>
              </a:lnSpc>
            </a:pPr>
            <a:r>
              <a:rPr lang="tr-TR" sz="1700" dirty="0"/>
              <a:t>Bellek, iki ana bölüme ayrıldı:</a:t>
            </a:r>
          </a:p>
          <a:p>
            <a:pPr>
              <a:lnSpc>
                <a:spcPct val="170000"/>
              </a:lnSpc>
            </a:pPr>
            <a:r>
              <a:rPr lang="tr-TR" sz="2000" b="1" dirty="0">
                <a:solidFill>
                  <a:srgbClr val="FF0000"/>
                </a:solidFill>
              </a:rPr>
              <a:t>Giriş Belleği (</a:t>
            </a:r>
            <a:r>
              <a:rPr lang="tr-TR" sz="2000" b="1" dirty="0" err="1">
                <a:solidFill>
                  <a:srgbClr val="FF0000"/>
                </a:solidFill>
              </a:rPr>
              <a:t>Input</a:t>
            </a:r>
            <a:r>
              <a:rPr lang="tr-TR" sz="2000" b="1" dirty="0">
                <a:solidFill>
                  <a:srgbClr val="FF0000"/>
                </a:solidFill>
              </a:rPr>
              <a:t> Memory)</a:t>
            </a:r>
            <a:br>
              <a:rPr lang="tr-TR" sz="2000" b="1" dirty="0">
                <a:solidFill>
                  <a:srgbClr val="FF0000"/>
                </a:solidFill>
              </a:rPr>
            </a:br>
            <a:r>
              <a:rPr lang="tr-TR" sz="1700" dirty="0"/>
              <a:t>Sensörlerden gelen değerler burada tutulur.</a:t>
            </a:r>
            <a:br>
              <a:rPr lang="tr-TR" sz="1700" dirty="0"/>
            </a:br>
            <a:r>
              <a:rPr lang="tr-TR" sz="1700" dirty="0"/>
              <a:t>Örneğin:</a:t>
            </a:r>
          </a:p>
          <a:p>
            <a:pPr lvl="1">
              <a:lnSpc>
                <a:spcPct val="170000"/>
              </a:lnSpc>
            </a:pPr>
            <a:r>
              <a:rPr lang="tr-TR" sz="1700" dirty="0"/>
              <a:t>1000 → Hammadde sensörü</a:t>
            </a:r>
          </a:p>
          <a:p>
            <a:pPr lvl="1">
              <a:lnSpc>
                <a:spcPct val="170000"/>
              </a:lnSpc>
            </a:pPr>
            <a:r>
              <a:rPr lang="tr-TR" sz="1700" dirty="0"/>
              <a:t>1004 → İşçi var-yok </a:t>
            </a:r>
            <a:r>
              <a:rPr lang="tr-TR" sz="1700" dirty="0" err="1"/>
              <a:t>sensorü</a:t>
            </a:r>
            <a:endParaRPr lang="tr-TR" sz="1700" dirty="0"/>
          </a:p>
          <a:p>
            <a:pPr lvl="1">
              <a:lnSpc>
                <a:spcPct val="170000"/>
              </a:lnSpc>
            </a:pPr>
            <a:r>
              <a:rPr lang="tr-TR" sz="1700" dirty="0"/>
              <a:t>1008 → Sıcaklık</a:t>
            </a:r>
          </a:p>
          <a:p>
            <a:pPr lvl="1">
              <a:lnSpc>
                <a:spcPct val="170000"/>
              </a:lnSpc>
            </a:pPr>
            <a:r>
              <a:rPr lang="tr-TR" sz="1700" dirty="0"/>
              <a:t>1012 → Basınç</a:t>
            </a:r>
          </a:p>
        </p:txBody>
      </p:sp>
      <p:sp>
        <p:nvSpPr>
          <p:cNvPr id="10" name="Rectangle 9">
            <a:extLst>
              <a:ext uri="{FF2B5EF4-FFF2-40B4-BE49-F238E27FC236}">
                <a16:creationId xmlns:a16="http://schemas.microsoft.com/office/drawing/2014/main" id="{92676869-9095-6683-E0D0-FDC6890788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3474904104"/>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79CE3F0-8084-EDAA-DE1A-F8739B6B934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316ECE-92F5-0087-A950-A758F35F9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0616E1F-A9FD-DF8D-FF7B-75435C810F02}"/>
              </a:ext>
            </a:extLst>
          </p:cNvPr>
          <p:cNvSpPr>
            <a:spLocks noGrp="1"/>
          </p:cNvSpPr>
          <p:nvPr>
            <p:ph type="title"/>
          </p:nvPr>
        </p:nvSpPr>
        <p:spPr>
          <a:xfrm>
            <a:off x="687107" y="148046"/>
            <a:ext cx="9692640" cy="984068"/>
          </a:xfrm>
        </p:spPr>
        <p:txBody>
          <a:bodyPr>
            <a:normAutofit/>
          </a:bodyPr>
          <a:lstStyle/>
          <a:p>
            <a:r>
              <a:rPr lang="tr-TR" dirty="0"/>
              <a:t>Bellek Yapısı (Memory </a:t>
            </a:r>
            <a:r>
              <a:rPr lang="tr-TR" dirty="0" err="1"/>
              <a:t>Map</a:t>
            </a:r>
            <a:r>
              <a:rPr lang="tr-TR" dirty="0"/>
              <a:t>)</a:t>
            </a:r>
          </a:p>
        </p:txBody>
      </p:sp>
      <p:sp>
        <p:nvSpPr>
          <p:cNvPr id="3" name="İçerik Yer Tutucusu 2">
            <a:extLst>
              <a:ext uri="{FF2B5EF4-FFF2-40B4-BE49-F238E27FC236}">
                <a16:creationId xmlns:a16="http://schemas.microsoft.com/office/drawing/2014/main" id="{004480F1-2BD0-DFF8-2D1F-0BEC28EA5AFE}"/>
              </a:ext>
            </a:extLst>
          </p:cNvPr>
          <p:cNvSpPr>
            <a:spLocks noGrp="1"/>
          </p:cNvSpPr>
          <p:nvPr>
            <p:ph idx="1"/>
          </p:nvPr>
        </p:nvSpPr>
        <p:spPr>
          <a:xfrm>
            <a:off x="268448" y="1468073"/>
            <a:ext cx="10612073" cy="5241881"/>
          </a:xfrm>
        </p:spPr>
        <p:txBody>
          <a:bodyPr>
            <a:noAutofit/>
          </a:bodyPr>
          <a:lstStyle/>
          <a:p>
            <a:pPr>
              <a:lnSpc>
                <a:spcPct val="170000"/>
              </a:lnSpc>
            </a:pPr>
            <a:r>
              <a:rPr lang="tr-TR" sz="2000" b="1" dirty="0">
                <a:solidFill>
                  <a:srgbClr val="FF0000"/>
                </a:solidFill>
              </a:rPr>
              <a:t>Çıkış Belleği (</a:t>
            </a:r>
            <a:r>
              <a:rPr lang="tr-TR" sz="2000" b="1" dirty="0" err="1">
                <a:solidFill>
                  <a:srgbClr val="FF0000"/>
                </a:solidFill>
              </a:rPr>
              <a:t>Output</a:t>
            </a:r>
            <a:r>
              <a:rPr lang="tr-TR" sz="2000" b="1" dirty="0">
                <a:solidFill>
                  <a:srgbClr val="FF0000"/>
                </a:solidFill>
              </a:rPr>
              <a:t> Memory)</a:t>
            </a:r>
            <a:br>
              <a:rPr lang="tr-TR" sz="2000" dirty="0">
                <a:solidFill>
                  <a:srgbClr val="FF0000"/>
                </a:solidFill>
              </a:rPr>
            </a:br>
            <a:r>
              <a:rPr lang="tr-TR" sz="1700" dirty="0"/>
              <a:t>Aktüatörlere gönderilecek komutlar bu adreste tutulur:</a:t>
            </a:r>
          </a:p>
          <a:p>
            <a:pPr lvl="1">
              <a:lnSpc>
                <a:spcPct val="170000"/>
              </a:lnSpc>
            </a:pPr>
            <a:r>
              <a:rPr lang="tr-TR" sz="1700" dirty="0"/>
              <a:t>2000 → Makine çalış/dur</a:t>
            </a:r>
          </a:p>
          <a:p>
            <a:pPr lvl="1">
              <a:lnSpc>
                <a:spcPct val="170000"/>
              </a:lnSpc>
            </a:pPr>
            <a:r>
              <a:rPr lang="tr-TR" sz="1700" dirty="0"/>
              <a:t>2004 → Motor PWM hızı</a:t>
            </a:r>
          </a:p>
          <a:p>
            <a:pPr lvl="1">
              <a:lnSpc>
                <a:spcPct val="170000"/>
              </a:lnSpc>
            </a:pPr>
            <a:r>
              <a:rPr lang="tr-TR" sz="1700" dirty="0"/>
              <a:t>2008 → Alarm durumu</a:t>
            </a:r>
          </a:p>
          <a:p>
            <a:pPr>
              <a:lnSpc>
                <a:spcPct val="170000"/>
              </a:lnSpc>
            </a:pPr>
            <a:r>
              <a:rPr lang="tr-TR" sz="1700" dirty="0"/>
              <a:t>PLC tarama mantığında sensör değerleri belleğe yazılır, sonra </a:t>
            </a:r>
            <a:r>
              <a:rPr lang="tr-TR" sz="1700" dirty="0" err="1"/>
              <a:t>ladder</a:t>
            </a:r>
            <a:r>
              <a:rPr lang="tr-TR" sz="1700" dirty="0"/>
              <a:t> bu değerleri kullanarak karar verir ve sonuçlar yine bellekteki çıkış adreslerine yazılır.</a:t>
            </a:r>
          </a:p>
          <a:p>
            <a:pPr>
              <a:lnSpc>
                <a:spcPct val="170000"/>
              </a:lnSpc>
            </a:pPr>
            <a:r>
              <a:rPr lang="tr-TR" sz="1700" dirty="0"/>
              <a:t>Bu sayede tüm sistem tek bir veri tabanından yönetilir.</a:t>
            </a:r>
          </a:p>
          <a:p>
            <a:pPr>
              <a:lnSpc>
                <a:spcPct val="100000"/>
              </a:lnSpc>
            </a:pPr>
            <a:endParaRPr lang="tr-TR" sz="1700" dirty="0"/>
          </a:p>
        </p:txBody>
      </p:sp>
      <p:sp>
        <p:nvSpPr>
          <p:cNvPr id="10" name="Rectangle 9">
            <a:extLst>
              <a:ext uri="{FF2B5EF4-FFF2-40B4-BE49-F238E27FC236}">
                <a16:creationId xmlns:a16="http://schemas.microsoft.com/office/drawing/2014/main" id="{A9EAB662-46BC-F35C-C53E-CC40900EC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1295922562"/>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4FB1E96-61DF-7F6A-BA51-7D1A791C986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0FAE72-781F-5C90-33EB-269CACB8A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425C40B-627B-A7B6-9045-12A466B39014}"/>
              </a:ext>
            </a:extLst>
          </p:cNvPr>
          <p:cNvSpPr>
            <a:spLocks noGrp="1"/>
          </p:cNvSpPr>
          <p:nvPr>
            <p:ph type="title"/>
          </p:nvPr>
        </p:nvSpPr>
        <p:spPr>
          <a:xfrm>
            <a:off x="792480" y="307437"/>
            <a:ext cx="9692640" cy="984068"/>
          </a:xfrm>
        </p:spPr>
        <p:txBody>
          <a:bodyPr>
            <a:normAutofit/>
          </a:bodyPr>
          <a:lstStyle/>
          <a:p>
            <a:r>
              <a:rPr lang="tr-TR" dirty="0"/>
              <a:t>Sensörlerin Ayrıntılı İncelenmesi</a:t>
            </a:r>
          </a:p>
        </p:txBody>
      </p:sp>
      <p:sp>
        <p:nvSpPr>
          <p:cNvPr id="3" name="İçerik Yer Tutucusu 2">
            <a:extLst>
              <a:ext uri="{FF2B5EF4-FFF2-40B4-BE49-F238E27FC236}">
                <a16:creationId xmlns:a16="http://schemas.microsoft.com/office/drawing/2014/main" id="{1D8E7EF5-A802-8F83-13D5-AA535A14F493}"/>
              </a:ext>
            </a:extLst>
          </p:cNvPr>
          <p:cNvSpPr>
            <a:spLocks noGrp="1"/>
          </p:cNvSpPr>
          <p:nvPr>
            <p:ph idx="1"/>
          </p:nvPr>
        </p:nvSpPr>
        <p:spPr>
          <a:xfrm>
            <a:off x="595618" y="1627464"/>
            <a:ext cx="10233055" cy="4894577"/>
          </a:xfrm>
        </p:spPr>
        <p:txBody>
          <a:bodyPr>
            <a:noAutofit/>
          </a:bodyPr>
          <a:lstStyle/>
          <a:p>
            <a:pPr marL="0" indent="0">
              <a:lnSpc>
                <a:spcPct val="170000"/>
              </a:lnSpc>
              <a:buNone/>
            </a:pPr>
            <a:r>
              <a:rPr lang="tr-TR" sz="2000" dirty="0"/>
              <a:t> Her sensörün gerçek hayattaki karşılığını ve projedeki işlevini açıklayalım:</a:t>
            </a:r>
            <a:br>
              <a:rPr lang="tr-TR" sz="2000" dirty="0">
                <a:solidFill>
                  <a:srgbClr val="FF0000"/>
                </a:solidFill>
              </a:rPr>
            </a:br>
            <a:endParaRPr lang="tr-TR" sz="2000" dirty="0">
              <a:solidFill>
                <a:srgbClr val="FF0000"/>
              </a:solidFill>
            </a:endParaRPr>
          </a:p>
          <a:p>
            <a:pPr marL="0" indent="0">
              <a:lnSpc>
                <a:spcPct val="170000"/>
              </a:lnSpc>
              <a:buNone/>
            </a:pPr>
            <a:r>
              <a:rPr lang="tr-TR" sz="1700" dirty="0"/>
              <a:t> </a:t>
            </a:r>
            <a:r>
              <a:rPr lang="tr-TR" sz="1700" dirty="0">
                <a:solidFill>
                  <a:srgbClr val="FF0000"/>
                </a:solidFill>
              </a:rPr>
              <a:t>1. Hammadde Sensörü (1000)</a:t>
            </a:r>
          </a:p>
          <a:p>
            <a:pPr marL="0" indent="0">
              <a:lnSpc>
                <a:spcPct val="170000"/>
              </a:lnSpc>
              <a:buNone/>
            </a:pPr>
            <a:r>
              <a:rPr lang="tr-TR" sz="1700" dirty="0"/>
              <a:t>Gerçekte silo tartısı veya optik seviye sensörü </a:t>
            </a:r>
            <a:r>
              <a:rPr lang="tr-TR" sz="1700" dirty="0" err="1"/>
              <a:t>olur.Simülasyonda</a:t>
            </a:r>
            <a:r>
              <a:rPr lang="tr-TR" sz="1700" dirty="0"/>
              <a:t> bu değeri kullanıcı veya sistem </a:t>
            </a:r>
            <a:r>
              <a:rPr lang="tr-TR" sz="1700" dirty="0" err="1"/>
              <a:t>günceller.Eğer</a:t>
            </a:r>
            <a:r>
              <a:rPr lang="tr-TR" sz="1700" dirty="0"/>
              <a:t> hammadde yetersizse makine asla başlatılmaz.</a:t>
            </a:r>
          </a:p>
          <a:p>
            <a:pPr marL="0" indent="0">
              <a:buNone/>
            </a:pPr>
            <a:endParaRPr lang="tr-TR" sz="1600" b="1" dirty="0"/>
          </a:p>
          <a:p>
            <a:pPr marL="0" indent="0">
              <a:buNone/>
            </a:pPr>
            <a:r>
              <a:rPr lang="tr-TR" sz="1600" b="1" dirty="0"/>
              <a:t> </a:t>
            </a:r>
            <a:r>
              <a:rPr lang="tr-TR" sz="1600" b="1" dirty="0">
                <a:solidFill>
                  <a:srgbClr val="FF0000"/>
                </a:solidFill>
              </a:rPr>
              <a:t>2. İşçi Sensörü (1004)</a:t>
            </a:r>
          </a:p>
          <a:p>
            <a:pPr>
              <a:lnSpc>
                <a:spcPct val="150000"/>
              </a:lnSpc>
              <a:buNone/>
            </a:pPr>
            <a:r>
              <a:rPr lang="tr-TR" sz="1600" dirty="0"/>
              <a:t>Fabrikada operatörün makine başında olup olmadığını algılayan </a:t>
            </a:r>
            <a:r>
              <a:rPr lang="tr-TR" sz="1600" dirty="0" err="1"/>
              <a:t>switch</a:t>
            </a:r>
            <a:r>
              <a:rPr lang="tr-TR" sz="1600" dirty="0"/>
              <a:t> veya RFID sistemidir.</a:t>
            </a:r>
            <a:br>
              <a:rPr lang="tr-TR" sz="1600" dirty="0"/>
            </a:br>
            <a:r>
              <a:rPr lang="tr-TR" sz="1600" dirty="0"/>
              <a:t>İşçi yoksa makine çalıştırılmaz — bu hem güvenlik hem üretim şartıdır.</a:t>
            </a:r>
          </a:p>
          <a:p>
            <a:pPr marL="0" indent="0">
              <a:lnSpc>
                <a:spcPct val="170000"/>
              </a:lnSpc>
              <a:buNone/>
            </a:pPr>
            <a:endParaRPr lang="tr-TR" sz="1700" dirty="0"/>
          </a:p>
        </p:txBody>
      </p:sp>
      <p:sp>
        <p:nvSpPr>
          <p:cNvPr id="10" name="Rectangle 9">
            <a:extLst>
              <a:ext uri="{FF2B5EF4-FFF2-40B4-BE49-F238E27FC236}">
                <a16:creationId xmlns:a16="http://schemas.microsoft.com/office/drawing/2014/main" id="{228C6CA7-7DE6-0458-42FE-BE2B5582DE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3136695520"/>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1DEEFAD5-EC0D-675B-E5BD-709C2CF2C89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1E16F3-E655-2431-D54E-8FDDC840C3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5844325-FDD5-13DA-C3A0-8BE8CC22E97C}"/>
              </a:ext>
            </a:extLst>
          </p:cNvPr>
          <p:cNvSpPr>
            <a:spLocks noGrp="1"/>
          </p:cNvSpPr>
          <p:nvPr>
            <p:ph type="title"/>
          </p:nvPr>
        </p:nvSpPr>
        <p:spPr>
          <a:xfrm>
            <a:off x="612396" y="475216"/>
            <a:ext cx="9692640" cy="984068"/>
          </a:xfrm>
        </p:spPr>
        <p:txBody>
          <a:bodyPr>
            <a:normAutofit/>
          </a:bodyPr>
          <a:lstStyle/>
          <a:p>
            <a:r>
              <a:rPr lang="tr-TR" dirty="0"/>
              <a:t>Sensörlerin Ayrıntılı İncelenmesi</a:t>
            </a:r>
          </a:p>
        </p:txBody>
      </p:sp>
      <p:sp>
        <p:nvSpPr>
          <p:cNvPr id="3" name="İçerik Yer Tutucusu 2">
            <a:extLst>
              <a:ext uri="{FF2B5EF4-FFF2-40B4-BE49-F238E27FC236}">
                <a16:creationId xmlns:a16="http://schemas.microsoft.com/office/drawing/2014/main" id="{334D4748-6CCA-D7A3-769C-1766FE022154}"/>
              </a:ext>
            </a:extLst>
          </p:cNvPr>
          <p:cNvSpPr>
            <a:spLocks noGrp="1"/>
          </p:cNvSpPr>
          <p:nvPr>
            <p:ph idx="1"/>
          </p:nvPr>
        </p:nvSpPr>
        <p:spPr>
          <a:xfrm>
            <a:off x="612396" y="2164359"/>
            <a:ext cx="10216277" cy="4357681"/>
          </a:xfrm>
        </p:spPr>
        <p:txBody>
          <a:bodyPr>
            <a:noAutofit/>
          </a:bodyPr>
          <a:lstStyle/>
          <a:p>
            <a:pPr>
              <a:buNone/>
            </a:pPr>
            <a:r>
              <a:rPr lang="tr-TR" sz="1700" b="1" dirty="0">
                <a:solidFill>
                  <a:srgbClr val="FF0000"/>
                </a:solidFill>
              </a:rPr>
              <a:t>3. Sıcaklık Sensörü (1008)</a:t>
            </a:r>
          </a:p>
          <a:p>
            <a:pPr>
              <a:buNone/>
            </a:pPr>
            <a:r>
              <a:rPr lang="tr-TR" sz="1700" dirty="0"/>
              <a:t>Makinede aşırı ısınma, motor yüklenmesi veya fırın ısısı takip edilir.</a:t>
            </a:r>
            <a:br>
              <a:rPr lang="tr-TR" sz="1700" dirty="0"/>
            </a:br>
            <a:r>
              <a:rPr lang="tr-TR" sz="1700" dirty="0"/>
              <a:t>35°C üstü değer sistem tarafından tehlike olarak kabul edilir</a:t>
            </a:r>
          </a:p>
          <a:p>
            <a:pPr>
              <a:buNone/>
            </a:pPr>
            <a:endParaRPr lang="tr-TR" sz="1700" b="1" dirty="0">
              <a:solidFill>
                <a:srgbClr val="FF0000"/>
              </a:solidFill>
            </a:endParaRPr>
          </a:p>
          <a:p>
            <a:pPr>
              <a:buNone/>
            </a:pPr>
            <a:r>
              <a:rPr lang="tr-TR" sz="1700" b="1" dirty="0">
                <a:solidFill>
                  <a:srgbClr val="FF0000"/>
                </a:solidFill>
              </a:rPr>
              <a:t>4. Basınç Sensörü (1012)</a:t>
            </a:r>
          </a:p>
          <a:p>
            <a:pPr>
              <a:buNone/>
            </a:pPr>
            <a:r>
              <a:rPr lang="tr-TR" sz="1600" dirty="0" err="1"/>
              <a:t>Pnömatik</a:t>
            </a:r>
            <a:r>
              <a:rPr lang="tr-TR" sz="1600" dirty="0"/>
              <a:t> bir hatta, hidrolik bir baskı sisteminde veya kompresörde olması gereken minimum basıncı gösterir.</a:t>
            </a:r>
            <a:br>
              <a:rPr lang="tr-TR" sz="1600" dirty="0"/>
            </a:br>
            <a:r>
              <a:rPr lang="tr-TR" sz="1600" dirty="0"/>
              <a:t>700 birimin altına düşmesi "kaçak" ya da arıza göstergesidir.</a:t>
            </a:r>
          </a:p>
          <a:p>
            <a:pPr>
              <a:buNone/>
            </a:pPr>
            <a:r>
              <a:rPr lang="tr-TR" sz="1600" dirty="0"/>
              <a:t>Bu sensörler sistemin güvenli çalışmasının temel koşullarıdır.</a:t>
            </a:r>
          </a:p>
          <a:p>
            <a:pPr>
              <a:buNone/>
            </a:pPr>
            <a:endParaRPr lang="tr-TR" sz="1700" dirty="0"/>
          </a:p>
          <a:p>
            <a:pPr>
              <a:buNone/>
            </a:pPr>
            <a:endParaRPr lang="tr-TR" sz="1700" dirty="0"/>
          </a:p>
        </p:txBody>
      </p:sp>
      <p:sp>
        <p:nvSpPr>
          <p:cNvPr id="10" name="Rectangle 9">
            <a:extLst>
              <a:ext uri="{FF2B5EF4-FFF2-40B4-BE49-F238E27FC236}">
                <a16:creationId xmlns:a16="http://schemas.microsoft.com/office/drawing/2014/main" id="{E8339AD1-668B-3581-29DD-B51FEB6A17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2916213119"/>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58153450-B3FD-EE17-774F-C96BE89DF7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7F70D6-AB97-0ACB-A5D8-DAFC9441D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A4EE11C-9BFF-4647-BF5F-DC32C4993A9E}"/>
              </a:ext>
            </a:extLst>
          </p:cNvPr>
          <p:cNvSpPr>
            <a:spLocks noGrp="1"/>
          </p:cNvSpPr>
          <p:nvPr>
            <p:ph type="title"/>
          </p:nvPr>
        </p:nvSpPr>
        <p:spPr>
          <a:xfrm>
            <a:off x="612396" y="174890"/>
            <a:ext cx="9692640" cy="984068"/>
          </a:xfrm>
        </p:spPr>
        <p:txBody>
          <a:bodyPr>
            <a:normAutofit/>
          </a:bodyPr>
          <a:lstStyle/>
          <a:p>
            <a:r>
              <a:rPr lang="tr-TR" dirty="0"/>
              <a:t>Aktüatörler</a:t>
            </a:r>
          </a:p>
        </p:txBody>
      </p:sp>
      <p:sp>
        <p:nvSpPr>
          <p:cNvPr id="3" name="İçerik Yer Tutucusu 2">
            <a:extLst>
              <a:ext uri="{FF2B5EF4-FFF2-40B4-BE49-F238E27FC236}">
                <a16:creationId xmlns:a16="http://schemas.microsoft.com/office/drawing/2014/main" id="{7AF28068-9923-1A9A-E591-CFC477B157AB}"/>
              </a:ext>
            </a:extLst>
          </p:cNvPr>
          <p:cNvSpPr>
            <a:spLocks noGrp="1"/>
          </p:cNvSpPr>
          <p:nvPr>
            <p:ph idx="1"/>
          </p:nvPr>
        </p:nvSpPr>
        <p:spPr>
          <a:xfrm>
            <a:off x="612396" y="1568341"/>
            <a:ext cx="10216277" cy="5114769"/>
          </a:xfrm>
        </p:spPr>
        <p:txBody>
          <a:bodyPr>
            <a:noAutofit/>
          </a:bodyPr>
          <a:lstStyle/>
          <a:p>
            <a:pPr>
              <a:buNone/>
            </a:pPr>
            <a:r>
              <a:rPr lang="tr-TR" sz="1600" dirty="0"/>
              <a:t>Aktüatörler </a:t>
            </a:r>
            <a:r>
              <a:rPr lang="tr-TR" sz="1600" dirty="0" err="1"/>
              <a:t>PLC’nin</a:t>
            </a:r>
            <a:r>
              <a:rPr lang="tr-TR" sz="1600" dirty="0"/>
              <a:t> “çıkış” birimleridir; yani kararları uygular.</a:t>
            </a:r>
          </a:p>
          <a:p>
            <a:pPr>
              <a:buNone/>
            </a:pPr>
            <a:r>
              <a:rPr lang="tr-TR" sz="1700" b="1" dirty="0">
                <a:solidFill>
                  <a:srgbClr val="FF0000"/>
                </a:solidFill>
              </a:rPr>
              <a:t>1. Makine (2000)</a:t>
            </a:r>
          </a:p>
          <a:p>
            <a:pPr>
              <a:buNone/>
            </a:pPr>
            <a:r>
              <a:rPr lang="tr-TR" sz="1600" dirty="0"/>
              <a:t>0 → Kapalı</a:t>
            </a:r>
            <a:br>
              <a:rPr lang="tr-TR" sz="1600" dirty="0"/>
            </a:br>
            <a:r>
              <a:rPr lang="tr-TR" sz="1600" dirty="0"/>
              <a:t>1 → Açık</a:t>
            </a:r>
            <a:br>
              <a:rPr lang="tr-TR" sz="1600" dirty="0"/>
            </a:br>
            <a:r>
              <a:rPr lang="tr-TR" sz="1600" dirty="0"/>
              <a:t>Makine yalnızca hammadde yeterli ve işçi hazır olduğunda çalışır.</a:t>
            </a:r>
            <a:br>
              <a:rPr lang="tr-TR" sz="1600" dirty="0"/>
            </a:br>
            <a:r>
              <a:rPr lang="tr-TR" sz="1600" dirty="0"/>
              <a:t>Sıcaklık veya basınç sınırı aşıldığında otomatik kapanır.</a:t>
            </a:r>
          </a:p>
          <a:p>
            <a:pPr>
              <a:buNone/>
            </a:pPr>
            <a:r>
              <a:rPr lang="tr-TR" sz="1700" b="1" dirty="0">
                <a:solidFill>
                  <a:srgbClr val="FF0000"/>
                </a:solidFill>
              </a:rPr>
              <a:t>2. Motor PWM (2004)</a:t>
            </a:r>
          </a:p>
          <a:p>
            <a:pPr>
              <a:buNone/>
            </a:pPr>
            <a:r>
              <a:rPr lang="tr-TR" sz="1600" dirty="0"/>
              <a:t>Bu değer PID kontrol ile belirlenir.</a:t>
            </a:r>
            <a:br>
              <a:rPr lang="tr-TR" sz="1600" dirty="0"/>
            </a:br>
            <a:r>
              <a:rPr lang="tr-TR" sz="1600" dirty="0"/>
              <a:t>Motorun hızını veya gücünü temsil eder.</a:t>
            </a:r>
            <a:br>
              <a:rPr lang="tr-TR" sz="1600" dirty="0"/>
            </a:br>
            <a:r>
              <a:rPr lang="tr-TR" sz="1600" dirty="0"/>
              <a:t>0–100 arası bir değer olabilir.</a:t>
            </a:r>
          </a:p>
          <a:p>
            <a:pPr>
              <a:buNone/>
            </a:pPr>
            <a:r>
              <a:rPr lang="tr-TR" sz="1700" b="1" dirty="0">
                <a:solidFill>
                  <a:srgbClr val="FF0000"/>
                </a:solidFill>
              </a:rPr>
              <a:t>3. Alarm Sistemi (2008)</a:t>
            </a:r>
          </a:p>
          <a:p>
            <a:pPr>
              <a:buNone/>
            </a:pPr>
            <a:r>
              <a:rPr lang="tr-TR" sz="1600" dirty="0"/>
              <a:t>0 → Normal</a:t>
            </a:r>
          </a:p>
          <a:p>
            <a:pPr>
              <a:buNone/>
            </a:pPr>
            <a:r>
              <a:rPr lang="tr-TR" sz="1600" dirty="0"/>
              <a:t>1 → Tehlike durumu</a:t>
            </a:r>
            <a:br>
              <a:rPr lang="tr-TR" sz="1600" dirty="0"/>
            </a:br>
            <a:r>
              <a:rPr lang="tr-TR" sz="1600" dirty="0"/>
              <a:t>Sıcaklık aşımı, basınç düşüşü veya kullanıcı tarafından yapılan durdurma durumlarında devreye girer.</a:t>
            </a:r>
          </a:p>
        </p:txBody>
      </p:sp>
      <p:sp>
        <p:nvSpPr>
          <p:cNvPr id="10" name="Rectangle 9">
            <a:extLst>
              <a:ext uri="{FF2B5EF4-FFF2-40B4-BE49-F238E27FC236}">
                <a16:creationId xmlns:a16="http://schemas.microsoft.com/office/drawing/2014/main" id="{9B8E7FA8-E94B-AC25-37F6-075B9BC58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426749659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506A1DA-07B4-F698-0DB5-5148D8BAAA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CA99A3F-6CE6-E003-0C3A-BA040842AB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15DABB8-CDBD-A419-F6D4-BF04B4B87253}"/>
              </a:ext>
            </a:extLst>
          </p:cNvPr>
          <p:cNvSpPr>
            <a:spLocks noGrp="1"/>
          </p:cNvSpPr>
          <p:nvPr>
            <p:ph type="title"/>
          </p:nvPr>
        </p:nvSpPr>
        <p:spPr>
          <a:xfrm>
            <a:off x="612396" y="174890"/>
            <a:ext cx="9692640" cy="984068"/>
          </a:xfrm>
        </p:spPr>
        <p:txBody>
          <a:bodyPr>
            <a:normAutofit/>
          </a:bodyPr>
          <a:lstStyle/>
          <a:p>
            <a:r>
              <a:rPr lang="tr-TR" dirty="0" err="1"/>
              <a:t>Ladder</a:t>
            </a:r>
            <a:r>
              <a:rPr lang="tr-TR" dirty="0"/>
              <a:t> </a:t>
            </a:r>
            <a:r>
              <a:rPr lang="tr-TR" dirty="0" err="1"/>
              <a:t>Logic</a:t>
            </a:r>
            <a:r>
              <a:rPr lang="tr-TR" dirty="0"/>
              <a:t> Mantığı</a:t>
            </a:r>
          </a:p>
        </p:txBody>
      </p:sp>
      <p:sp>
        <p:nvSpPr>
          <p:cNvPr id="3" name="İçerik Yer Tutucusu 2">
            <a:extLst>
              <a:ext uri="{FF2B5EF4-FFF2-40B4-BE49-F238E27FC236}">
                <a16:creationId xmlns:a16="http://schemas.microsoft.com/office/drawing/2014/main" id="{D844DDDB-ED08-288B-14D0-DF1B664AC4E4}"/>
              </a:ext>
            </a:extLst>
          </p:cNvPr>
          <p:cNvSpPr>
            <a:spLocks noGrp="1"/>
          </p:cNvSpPr>
          <p:nvPr>
            <p:ph idx="1"/>
          </p:nvPr>
        </p:nvSpPr>
        <p:spPr>
          <a:xfrm>
            <a:off x="612396" y="1568341"/>
            <a:ext cx="10216277" cy="5114769"/>
          </a:xfrm>
        </p:spPr>
        <p:txBody>
          <a:bodyPr>
            <a:noAutofit/>
          </a:bodyPr>
          <a:lstStyle/>
          <a:p>
            <a:pPr>
              <a:buNone/>
            </a:pPr>
            <a:r>
              <a:rPr lang="tr-TR" sz="1600" dirty="0" err="1"/>
              <a:t>Ladder</a:t>
            </a:r>
            <a:r>
              <a:rPr lang="tr-TR" sz="1600" dirty="0"/>
              <a:t> </a:t>
            </a:r>
            <a:r>
              <a:rPr lang="tr-TR" sz="1600" dirty="0" err="1"/>
              <a:t>Logic</a:t>
            </a:r>
            <a:r>
              <a:rPr lang="tr-TR" sz="1600" dirty="0"/>
              <a:t>, endüstriyel kontrolün kalbidir.</a:t>
            </a:r>
          </a:p>
          <a:p>
            <a:pPr>
              <a:buNone/>
            </a:pPr>
            <a:r>
              <a:rPr lang="tr-TR" sz="1600" dirty="0"/>
              <a:t>Kurallar “basamaklar” şeklinde yazılır ve her basamak bir koşul–sonuç ilişkisi içerir.</a:t>
            </a:r>
          </a:p>
          <a:p>
            <a:pPr>
              <a:buNone/>
            </a:pPr>
            <a:r>
              <a:rPr lang="tr-TR" sz="1600" dirty="0"/>
              <a:t>Bu projede şu </a:t>
            </a:r>
            <a:r>
              <a:rPr lang="tr-TR" sz="1600" dirty="0" err="1"/>
              <a:t>ladder</a:t>
            </a:r>
            <a:r>
              <a:rPr lang="tr-TR" sz="1600" dirty="0"/>
              <a:t> basamaklarını programladım:</a:t>
            </a:r>
          </a:p>
          <a:p>
            <a:pPr>
              <a:buNone/>
            </a:pPr>
            <a:endParaRPr lang="tr-TR" sz="1700" b="1" dirty="0">
              <a:solidFill>
                <a:srgbClr val="FF0000"/>
              </a:solidFill>
            </a:endParaRPr>
          </a:p>
          <a:p>
            <a:pPr>
              <a:buNone/>
            </a:pPr>
            <a:r>
              <a:rPr lang="tr-TR" sz="1700" b="1" dirty="0">
                <a:solidFill>
                  <a:srgbClr val="FF0000"/>
                </a:solidFill>
              </a:rPr>
              <a:t>1. Basamak: Makine Başlatma Koşulu</a:t>
            </a:r>
          </a:p>
          <a:p>
            <a:pPr>
              <a:buFont typeface="Arial" panose="020B0604020202020204" pitchFamily="34" charset="0"/>
              <a:buChar char="•"/>
            </a:pPr>
            <a:r>
              <a:rPr lang="tr-TR" sz="1600" dirty="0"/>
              <a:t>Hammadde ≥ 5</a:t>
            </a:r>
          </a:p>
          <a:p>
            <a:pPr>
              <a:buFont typeface="Arial" panose="020B0604020202020204" pitchFamily="34" charset="0"/>
              <a:buChar char="•"/>
            </a:pPr>
            <a:r>
              <a:rPr lang="tr-TR" sz="1600" dirty="0"/>
              <a:t>VE</a:t>
            </a:r>
          </a:p>
          <a:p>
            <a:pPr>
              <a:buFont typeface="Arial" panose="020B0604020202020204" pitchFamily="34" charset="0"/>
              <a:buChar char="•"/>
            </a:pPr>
            <a:r>
              <a:rPr lang="tr-TR" sz="1600" dirty="0"/>
              <a:t>İşçi = 1</a:t>
            </a:r>
          </a:p>
          <a:p>
            <a:pPr>
              <a:buNone/>
            </a:pPr>
            <a:r>
              <a:rPr lang="tr-TR" sz="1600" b="1" dirty="0"/>
              <a:t>Sonuç:</a:t>
            </a:r>
            <a:r>
              <a:rPr lang="tr-TR" sz="1600" dirty="0"/>
              <a:t> Makine adresini 1 yap (çalıştır).</a:t>
            </a:r>
          </a:p>
          <a:p>
            <a:pPr>
              <a:buNone/>
            </a:pPr>
            <a:r>
              <a:rPr lang="tr-TR" sz="1600" dirty="0"/>
              <a:t>Bu, üretim hattının en temel “start” koşuludur.</a:t>
            </a:r>
          </a:p>
        </p:txBody>
      </p:sp>
      <p:sp>
        <p:nvSpPr>
          <p:cNvPr id="10" name="Rectangle 9">
            <a:extLst>
              <a:ext uri="{FF2B5EF4-FFF2-40B4-BE49-F238E27FC236}">
                <a16:creationId xmlns:a16="http://schemas.microsoft.com/office/drawing/2014/main" id="{94A4F00E-E328-233E-3829-0294F5463A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465839070"/>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E308839-A621-6787-FF15-0D11A9655AB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D1EF9E-2031-EE36-4DD0-5340DD2354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62F9333-E274-5482-2F53-589F1DF726B6}"/>
              </a:ext>
            </a:extLst>
          </p:cNvPr>
          <p:cNvSpPr>
            <a:spLocks noGrp="1"/>
          </p:cNvSpPr>
          <p:nvPr>
            <p:ph type="title"/>
          </p:nvPr>
        </p:nvSpPr>
        <p:spPr>
          <a:xfrm>
            <a:off x="612396" y="174890"/>
            <a:ext cx="9692640" cy="984068"/>
          </a:xfrm>
        </p:spPr>
        <p:txBody>
          <a:bodyPr>
            <a:normAutofit/>
          </a:bodyPr>
          <a:lstStyle/>
          <a:p>
            <a:r>
              <a:rPr lang="tr-TR" dirty="0" err="1"/>
              <a:t>Ladder</a:t>
            </a:r>
            <a:r>
              <a:rPr lang="tr-TR" dirty="0"/>
              <a:t> </a:t>
            </a:r>
            <a:r>
              <a:rPr lang="tr-TR" dirty="0" err="1"/>
              <a:t>Logic</a:t>
            </a:r>
            <a:r>
              <a:rPr lang="tr-TR" dirty="0"/>
              <a:t> Mantığı</a:t>
            </a:r>
          </a:p>
        </p:txBody>
      </p:sp>
      <p:sp>
        <p:nvSpPr>
          <p:cNvPr id="3" name="İçerik Yer Tutucusu 2">
            <a:extLst>
              <a:ext uri="{FF2B5EF4-FFF2-40B4-BE49-F238E27FC236}">
                <a16:creationId xmlns:a16="http://schemas.microsoft.com/office/drawing/2014/main" id="{DE5FFC40-D7EA-F2CF-2CDB-ECF022D7E1F5}"/>
              </a:ext>
            </a:extLst>
          </p:cNvPr>
          <p:cNvSpPr>
            <a:spLocks noGrp="1"/>
          </p:cNvSpPr>
          <p:nvPr>
            <p:ph idx="1"/>
          </p:nvPr>
        </p:nvSpPr>
        <p:spPr>
          <a:xfrm>
            <a:off x="612396" y="1568341"/>
            <a:ext cx="10216277" cy="5114769"/>
          </a:xfrm>
        </p:spPr>
        <p:txBody>
          <a:bodyPr>
            <a:noAutofit/>
          </a:bodyPr>
          <a:lstStyle/>
          <a:p>
            <a:pPr>
              <a:buNone/>
            </a:pPr>
            <a:r>
              <a:rPr lang="tr-TR" sz="1700" b="1" dirty="0">
                <a:solidFill>
                  <a:srgbClr val="FF0000"/>
                </a:solidFill>
              </a:rPr>
              <a:t>2. Basamak: Aşırı Sıcaklık Durumu</a:t>
            </a:r>
          </a:p>
          <a:p>
            <a:r>
              <a:rPr lang="tr-TR" sz="1600" dirty="0"/>
              <a:t>Sıcaklık &gt; 35°C</a:t>
            </a:r>
          </a:p>
          <a:p>
            <a:pPr>
              <a:buNone/>
            </a:pPr>
            <a:r>
              <a:rPr lang="tr-TR" sz="1600" b="1" dirty="0"/>
              <a:t>Sonuç:</a:t>
            </a:r>
            <a:br>
              <a:rPr lang="tr-TR" sz="1600" dirty="0"/>
            </a:br>
            <a:r>
              <a:rPr lang="tr-TR" sz="1600" dirty="0"/>
              <a:t>Makineyi durdur → 0</a:t>
            </a:r>
            <a:br>
              <a:rPr lang="tr-TR" sz="1600" dirty="0"/>
            </a:br>
            <a:r>
              <a:rPr lang="tr-TR" sz="1600" dirty="0"/>
              <a:t>Alarmı devreye al → 1</a:t>
            </a:r>
          </a:p>
          <a:p>
            <a:pPr>
              <a:buNone/>
            </a:pPr>
            <a:r>
              <a:rPr lang="tr-TR" sz="1600" dirty="0"/>
              <a:t>Gerçek fabrikalarda bu durum "acil durdurma" olarak geçer.</a:t>
            </a:r>
          </a:p>
          <a:p>
            <a:pPr>
              <a:buNone/>
            </a:pPr>
            <a:endParaRPr lang="tr-TR" sz="1700" b="1" dirty="0">
              <a:solidFill>
                <a:srgbClr val="FF0000"/>
              </a:solidFill>
            </a:endParaRPr>
          </a:p>
          <a:p>
            <a:pPr>
              <a:buNone/>
            </a:pPr>
            <a:r>
              <a:rPr lang="tr-TR" sz="1700" b="1" dirty="0">
                <a:solidFill>
                  <a:srgbClr val="FF0000"/>
                </a:solidFill>
              </a:rPr>
              <a:t>3. Basamak: Basınç Düşüşü</a:t>
            </a:r>
          </a:p>
          <a:p>
            <a:r>
              <a:rPr lang="tr-TR" sz="1600" dirty="0"/>
              <a:t>Basınç &lt; 700</a:t>
            </a:r>
          </a:p>
          <a:p>
            <a:pPr>
              <a:buNone/>
            </a:pPr>
            <a:r>
              <a:rPr lang="tr-TR" sz="1600" b="1" dirty="0"/>
              <a:t>Sonuç:</a:t>
            </a:r>
            <a:br>
              <a:rPr lang="tr-TR" sz="1600" dirty="0"/>
            </a:br>
            <a:r>
              <a:rPr lang="tr-TR" sz="1600" dirty="0"/>
              <a:t>Acil durdurma + Alarm</a:t>
            </a:r>
          </a:p>
          <a:p>
            <a:pPr>
              <a:buNone/>
            </a:pPr>
            <a:r>
              <a:rPr lang="tr-TR" sz="1600" dirty="0"/>
              <a:t>Bu iki güvenlik basamağı </a:t>
            </a:r>
            <a:r>
              <a:rPr lang="tr-TR" sz="1600" dirty="0" err="1"/>
              <a:t>Ladder</a:t>
            </a:r>
            <a:r>
              <a:rPr lang="tr-TR" sz="1600" dirty="0"/>
              <a:t> yapısında “kesme” (</a:t>
            </a:r>
            <a:r>
              <a:rPr lang="tr-TR" sz="1600" dirty="0" err="1"/>
              <a:t>interrupt</a:t>
            </a:r>
            <a:r>
              <a:rPr lang="tr-TR" sz="1600" dirty="0"/>
              <a:t>) mantığına benzer çalışır.</a:t>
            </a:r>
            <a:br>
              <a:rPr lang="tr-TR" sz="1600" dirty="0"/>
            </a:br>
            <a:r>
              <a:rPr lang="tr-TR" sz="1600" dirty="0"/>
              <a:t>Normal üretim koşullarını anında geçersiz kılar.</a:t>
            </a:r>
          </a:p>
        </p:txBody>
      </p:sp>
      <p:sp>
        <p:nvSpPr>
          <p:cNvPr id="10" name="Rectangle 9">
            <a:extLst>
              <a:ext uri="{FF2B5EF4-FFF2-40B4-BE49-F238E27FC236}">
                <a16:creationId xmlns:a16="http://schemas.microsoft.com/office/drawing/2014/main" id="{B90B6972-42CC-7B63-99DF-DC13E37B90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951149669"/>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1F19943-4608-B15C-A8B1-A6166B5A528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D7BE38-1A7F-21A8-D5D5-B7B12C6E0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B5DEBA0-463F-14A1-D281-B2779C4873E9}"/>
              </a:ext>
            </a:extLst>
          </p:cNvPr>
          <p:cNvSpPr>
            <a:spLocks noGrp="1"/>
          </p:cNvSpPr>
          <p:nvPr>
            <p:ph type="title"/>
          </p:nvPr>
        </p:nvSpPr>
        <p:spPr>
          <a:xfrm>
            <a:off x="612396" y="174890"/>
            <a:ext cx="9692640" cy="984068"/>
          </a:xfrm>
        </p:spPr>
        <p:txBody>
          <a:bodyPr>
            <a:normAutofit/>
          </a:bodyPr>
          <a:lstStyle/>
          <a:p>
            <a:r>
              <a:rPr lang="tr-TR" dirty="0"/>
              <a:t>PID Kontrolörün Mantığı</a:t>
            </a:r>
          </a:p>
        </p:txBody>
      </p:sp>
      <p:sp>
        <p:nvSpPr>
          <p:cNvPr id="3" name="İçerik Yer Tutucusu 2">
            <a:extLst>
              <a:ext uri="{FF2B5EF4-FFF2-40B4-BE49-F238E27FC236}">
                <a16:creationId xmlns:a16="http://schemas.microsoft.com/office/drawing/2014/main" id="{8737A85E-B607-0F5D-764C-063B66C4E83F}"/>
              </a:ext>
            </a:extLst>
          </p:cNvPr>
          <p:cNvSpPr>
            <a:spLocks noGrp="1"/>
          </p:cNvSpPr>
          <p:nvPr>
            <p:ph idx="1"/>
          </p:nvPr>
        </p:nvSpPr>
        <p:spPr>
          <a:xfrm>
            <a:off x="612396" y="1568341"/>
            <a:ext cx="10216277" cy="5114769"/>
          </a:xfrm>
        </p:spPr>
        <p:txBody>
          <a:bodyPr>
            <a:noAutofit/>
          </a:bodyPr>
          <a:lstStyle/>
          <a:p>
            <a:pPr>
              <a:buNone/>
            </a:pPr>
            <a:r>
              <a:rPr lang="tr-TR" sz="1600" dirty="0"/>
              <a:t>PID, endüstride analog değerleri stabil tutmak için kullanılan en temel kontrol algoritmasıdır.</a:t>
            </a:r>
          </a:p>
          <a:p>
            <a:pPr>
              <a:buNone/>
            </a:pPr>
            <a:r>
              <a:rPr lang="tr-TR" sz="1600" b="1" dirty="0">
                <a:solidFill>
                  <a:srgbClr val="FF0000"/>
                </a:solidFill>
              </a:rPr>
              <a:t>P (</a:t>
            </a:r>
            <a:r>
              <a:rPr lang="tr-TR" sz="1600" b="1" dirty="0" err="1">
                <a:solidFill>
                  <a:srgbClr val="FF0000"/>
                </a:solidFill>
              </a:rPr>
              <a:t>Proportional</a:t>
            </a:r>
            <a:r>
              <a:rPr lang="tr-TR" sz="1600" b="1" dirty="0">
                <a:solidFill>
                  <a:srgbClr val="FF0000"/>
                </a:solidFill>
              </a:rPr>
              <a:t>) – Oransal kontrol</a:t>
            </a:r>
          </a:p>
          <a:p>
            <a:pPr>
              <a:buNone/>
            </a:pPr>
            <a:r>
              <a:rPr lang="tr-TR" sz="1600" dirty="0"/>
              <a:t>Anlık hataya göre tepki verir.</a:t>
            </a:r>
            <a:br>
              <a:rPr lang="tr-TR" sz="1600" dirty="0"/>
            </a:br>
            <a:r>
              <a:rPr lang="tr-TR" sz="1600" dirty="0"/>
              <a:t>Hata = Hedef – Ölçüm.</a:t>
            </a:r>
          </a:p>
          <a:p>
            <a:pPr>
              <a:buNone/>
            </a:pPr>
            <a:r>
              <a:rPr lang="tr-TR" sz="1600" b="1" dirty="0">
                <a:solidFill>
                  <a:srgbClr val="FF0000"/>
                </a:solidFill>
              </a:rPr>
              <a:t>I (</a:t>
            </a:r>
            <a:r>
              <a:rPr lang="tr-TR" sz="1600" b="1" dirty="0" err="1">
                <a:solidFill>
                  <a:srgbClr val="FF0000"/>
                </a:solidFill>
              </a:rPr>
              <a:t>Integral</a:t>
            </a:r>
            <a:r>
              <a:rPr lang="tr-TR" sz="1600" b="1" dirty="0">
                <a:solidFill>
                  <a:srgbClr val="FF0000"/>
                </a:solidFill>
              </a:rPr>
              <a:t>) – Birikimli kontrol</a:t>
            </a:r>
          </a:p>
          <a:p>
            <a:pPr>
              <a:buNone/>
            </a:pPr>
            <a:r>
              <a:rPr lang="tr-TR" sz="1600" dirty="0"/>
              <a:t>Hatanın zamanla birikmesini engeller.</a:t>
            </a:r>
            <a:br>
              <a:rPr lang="tr-TR" sz="1600" dirty="0"/>
            </a:br>
            <a:r>
              <a:rPr lang="tr-TR" sz="1600" dirty="0"/>
              <a:t>Sistem yavaşsa I devreye girer.</a:t>
            </a:r>
          </a:p>
          <a:p>
            <a:pPr>
              <a:buNone/>
            </a:pPr>
            <a:r>
              <a:rPr lang="tr-TR" sz="1600" b="1" dirty="0">
                <a:solidFill>
                  <a:srgbClr val="FF0000"/>
                </a:solidFill>
              </a:rPr>
              <a:t>D (</a:t>
            </a:r>
            <a:r>
              <a:rPr lang="tr-TR" sz="1600" b="1" dirty="0" err="1">
                <a:solidFill>
                  <a:srgbClr val="FF0000"/>
                </a:solidFill>
              </a:rPr>
              <a:t>Derivative</a:t>
            </a:r>
            <a:r>
              <a:rPr lang="tr-TR" sz="1600" b="1" dirty="0">
                <a:solidFill>
                  <a:srgbClr val="FF0000"/>
                </a:solidFill>
              </a:rPr>
              <a:t>) – Türevsel kontrol</a:t>
            </a:r>
          </a:p>
          <a:p>
            <a:pPr>
              <a:buNone/>
            </a:pPr>
            <a:r>
              <a:rPr lang="tr-TR" sz="1600" dirty="0"/>
              <a:t>Değişim hızını takip eder.</a:t>
            </a:r>
            <a:br>
              <a:rPr lang="tr-TR" sz="1600" dirty="0"/>
            </a:br>
            <a:r>
              <a:rPr lang="tr-TR" sz="1600" dirty="0"/>
              <a:t>Ani dalgalanmaları azaltır.</a:t>
            </a:r>
          </a:p>
          <a:p>
            <a:pPr>
              <a:buNone/>
            </a:pPr>
            <a:r>
              <a:rPr lang="tr-TR" sz="1600" dirty="0"/>
              <a:t>Bu projede PID motorun PWM değerini belirlemek için kullanılır.</a:t>
            </a:r>
            <a:br>
              <a:rPr lang="tr-TR" sz="1600" dirty="0"/>
            </a:br>
            <a:r>
              <a:rPr lang="tr-TR" sz="1600" dirty="0"/>
              <a:t>Amaç: sistem sıcaklığı hedef değerlere göre motor hızını ayarlayarak dengede tutmak.</a:t>
            </a:r>
          </a:p>
          <a:p>
            <a:pPr>
              <a:buNone/>
            </a:pPr>
            <a:r>
              <a:rPr lang="tr-TR" sz="1600" dirty="0"/>
              <a:t>Hedef sıcaklık diyelim ki 30°C.</a:t>
            </a:r>
            <a:br>
              <a:rPr lang="tr-TR" sz="1600" dirty="0"/>
            </a:br>
            <a:r>
              <a:rPr lang="tr-TR" sz="1600" dirty="0"/>
              <a:t>Sıcaklık yükseldikçe PWM düşer, soğudukça PWM artar.</a:t>
            </a:r>
          </a:p>
          <a:p>
            <a:pPr>
              <a:buNone/>
            </a:pPr>
            <a:endParaRPr lang="tr-TR" sz="1600" dirty="0"/>
          </a:p>
        </p:txBody>
      </p:sp>
      <p:sp>
        <p:nvSpPr>
          <p:cNvPr id="10" name="Rectangle 9">
            <a:extLst>
              <a:ext uri="{FF2B5EF4-FFF2-40B4-BE49-F238E27FC236}">
                <a16:creationId xmlns:a16="http://schemas.microsoft.com/office/drawing/2014/main" id="{03EB93D4-6B8B-8338-B8F5-B70E15F0A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678013140"/>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8A8E515-61E3-9C1D-A9D2-29233060D02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C41580-CB43-2174-4726-C11E7F1073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04BA610-A158-D4E4-729F-0E77BB35CF76}"/>
              </a:ext>
            </a:extLst>
          </p:cNvPr>
          <p:cNvSpPr>
            <a:spLocks noGrp="1"/>
          </p:cNvSpPr>
          <p:nvPr>
            <p:ph type="title"/>
          </p:nvPr>
        </p:nvSpPr>
        <p:spPr>
          <a:xfrm>
            <a:off x="612396" y="174890"/>
            <a:ext cx="9692640" cy="984068"/>
          </a:xfrm>
        </p:spPr>
        <p:txBody>
          <a:bodyPr>
            <a:normAutofit/>
          </a:bodyPr>
          <a:lstStyle/>
          <a:p>
            <a:r>
              <a:rPr lang="tr-TR" dirty="0"/>
              <a:t>PLC Tarama Döngüsü (</a:t>
            </a:r>
            <a:r>
              <a:rPr lang="tr-TR" dirty="0" err="1"/>
              <a:t>Scan</a:t>
            </a:r>
            <a:r>
              <a:rPr lang="tr-TR" dirty="0"/>
              <a:t> </a:t>
            </a:r>
            <a:r>
              <a:rPr lang="tr-TR" dirty="0" err="1"/>
              <a:t>Cycle</a:t>
            </a:r>
            <a:r>
              <a:rPr lang="tr-TR" dirty="0"/>
              <a:t>)</a:t>
            </a:r>
          </a:p>
        </p:txBody>
      </p:sp>
      <p:sp>
        <p:nvSpPr>
          <p:cNvPr id="3" name="İçerik Yer Tutucusu 2">
            <a:extLst>
              <a:ext uri="{FF2B5EF4-FFF2-40B4-BE49-F238E27FC236}">
                <a16:creationId xmlns:a16="http://schemas.microsoft.com/office/drawing/2014/main" id="{261D2983-C786-C3E5-25C3-1A8A91911C2B}"/>
              </a:ext>
            </a:extLst>
          </p:cNvPr>
          <p:cNvSpPr>
            <a:spLocks noGrp="1"/>
          </p:cNvSpPr>
          <p:nvPr>
            <p:ph idx="1"/>
          </p:nvPr>
        </p:nvSpPr>
        <p:spPr>
          <a:xfrm>
            <a:off x="612396" y="1568341"/>
            <a:ext cx="10216277" cy="5114769"/>
          </a:xfrm>
        </p:spPr>
        <p:txBody>
          <a:bodyPr>
            <a:noAutofit/>
          </a:bodyPr>
          <a:lstStyle/>
          <a:p>
            <a:pPr marL="0" indent="0">
              <a:buNone/>
            </a:pPr>
            <a:r>
              <a:rPr lang="tr-TR" sz="1600" dirty="0"/>
              <a:t>Sistem her saniye şu işlemleri sırasıyla yapar:</a:t>
            </a:r>
          </a:p>
          <a:p>
            <a:pPr marL="0" indent="0">
              <a:buNone/>
            </a:pPr>
            <a:r>
              <a:rPr lang="tr-TR" sz="1600" b="1" dirty="0">
                <a:solidFill>
                  <a:srgbClr val="FF0000"/>
                </a:solidFill>
              </a:rPr>
              <a:t>1. Sensörleri oku</a:t>
            </a:r>
            <a:br>
              <a:rPr lang="tr-TR" sz="1600" dirty="0"/>
            </a:br>
            <a:r>
              <a:rPr lang="tr-TR" sz="1600" dirty="0"/>
              <a:t>(Hammadde, işçi, sıcaklık, basınç değerleri güncellenir.)</a:t>
            </a:r>
          </a:p>
          <a:p>
            <a:pPr marL="0" indent="0">
              <a:buNone/>
            </a:pPr>
            <a:r>
              <a:rPr lang="tr-TR" sz="1600" b="1" dirty="0">
                <a:solidFill>
                  <a:srgbClr val="FF0000"/>
                </a:solidFill>
              </a:rPr>
              <a:t>2. </a:t>
            </a:r>
            <a:r>
              <a:rPr lang="tr-TR" sz="1600" b="1" dirty="0" err="1">
                <a:solidFill>
                  <a:srgbClr val="FF0000"/>
                </a:solidFill>
              </a:rPr>
              <a:t>Ladder</a:t>
            </a:r>
            <a:r>
              <a:rPr lang="tr-TR" sz="1600" b="1" dirty="0">
                <a:solidFill>
                  <a:srgbClr val="FF0000"/>
                </a:solidFill>
              </a:rPr>
              <a:t> </a:t>
            </a:r>
            <a:r>
              <a:rPr lang="tr-TR" sz="1600" b="1" dirty="0" err="1">
                <a:solidFill>
                  <a:srgbClr val="FF0000"/>
                </a:solidFill>
              </a:rPr>
              <a:t>Logic’i</a:t>
            </a:r>
            <a:r>
              <a:rPr lang="tr-TR" sz="1600" b="1" dirty="0">
                <a:solidFill>
                  <a:srgbClr val="FF0000"/>
                </a:solidFill>
              </a:rPr>
              <a:t> çalıştır</a:t>
            </a:r>
            <a:br>
              <a:rPr lang="tr-TR" sz="1600" dirty="0"/>
            </a:br>
            <a:r>
              <a:rPr lang="tr-TR" sz="1600" dirty="0"/>
              <a:t>Koşullar kontrol edilir, makine açılır/kapanır, alarm gerekir mi belirlenir.</a:t>
            </a:r>
          </a:p>
          <a:p>
            <a:pPr marL="0" indent="0">
              <a:buNone/>
            </a:pPr>
            <a:r>
              <a:rPr lang="tr-TR" sz="1600" b="1" dirty="0">
                <a:solidFill>
                  <a:srgbClr val="FF0000"/>
                </a:solidFill>
              </a:rPr>
              <a:t>3. PID kontrol çalıştır</a:t>
            </a:r>
            <a:br>
              <a:rPr lang="tr-TR" sz="1600" dirty="0"/>
            </a:br>
            <a:r>
              <a:rPr lang="tr-TR" sz="1600" dirty="0"/>
              <a:t>Gerekiyorsa motorun PWM değeri hesaplanır.</a:t>
            </a:r>
          </a:p>
          <a:p>
            <a:pPr marL="0" indent="0">
              <a:buNone/>
            </a:pPr>
            <a:r>
              <a:rPr lang="tr-TR" sz="1600" b="1" dirty="0">
                <a:solidFill>
                  <a:srgbClr val="FF0000"/>
                </a:solidFill>
              </a:rPr>
              <a:t>4. Aktüatörleri güncelle</a:t>
            </a:r>
            <a:br>
              <a:rPr lang="tr-TR" sz="1600" dirty="0"/>
            </a:br>
            <a:r>
              <a:rPr lang="tr-TR" sz="1600" dirty="0"/>
              <a:t>Bellekteki yeni değerler çıkışlara uygulanır.</a:t>
            </a:r>
          </a:p>
          <a:p>
            <a:pPr marL="0" indent="0">
              <a:buNone/>
            </a:pPr>
            <a:r>
              <a:rPr lang="tr-TR" sz="1600" b="1" dirty="0">
                <a:solidFill>
                  <a:srgbClr val="FF0000"/>
                </a:solidFill>
              </a:rPr>
              <a:t>5. HMI ekranını yenile</a:t>
            </a:r>
            <a:br>
              <a:rPr lang="tr-TR" sz="1600" dirty="0"/>
            </a:br>
            <a:r>
              <a:rPr lang="tr-TR" sz="1600" dirty="0"/>
              <a:t>Kullanıcı anlık durumu görür.</a:t>
            </a:r>
          </a:p>
          <a:p>
            <a:pPr marL="0" indent="0">
              <a:buNone/>
            </a:pPr>
            <a:r>
              <a:rPr lang="tr-TR" sz="1600" b="1" dirty="0">
                <a:solidFill>
                  <a:srgbClr val="FF0000"/>
                </a:solidFill>
              </a:rPr>
              <a:t>6. 1 saniye bekle ve döngüyü tekrar et</a:t>
            </a:r>
            <a:endParaRPr lang="tr-TR" sz="1600" dirty="0">
              <a:solidFill>
                <a:srgbClr val="FF0000"/>
              </a:solidFill>
            </a:endParaRPr>
          </a:p>
          <a:p>
            <a:pPr marL="0" indent="0">
              <a:buNone/>
            </a:pPr>
            <a:r>
              <a:rPr lang="tr-TR" sz="1600" dirty="0"/>
              <a:t>Bu döngü, gerçek </a:t>
            </a:r>
            <a:r>
              <a:rPr lang="tr-TR" sz="1600" dirty="0" err="1"/>
              <a:t>PLC’lerde</a:t>
            </a:r>
            <a:r>
              <a:rPr lang="tr-TR" sz="1600" dirty="0"/>
              <a:t> olduğu gibi durmaksızın devam eder.</a:t>
            </a:r>
          </a:p>
          <a:p>
            <a:pPr>
              <a:buNone/>
            </a:pPr>
            <a:endParaRPr lang="tr-TR" sz="1600" dirty="0"/>
          </a:p>
        </p:txBody>
      </p:sp>
      <p:sp>
        <p:nvSpPr>
          <p:cNvPr id="10" name="Rectangle 9">
            <a:extLst>
              <a:ext uri="{FF2B5EF4-FFF2-40B4-BE49-F238E27FC236}">
                <a16:creationId xmlns:a16="http://schemas.microsoft.com/office/drawing/2014/main" id="{92EDA833-536B-4F58-C429-52A5AA984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90526925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E242C3D-4B13-6ED5-0966-0B8BEA1BD56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DC8A85-5CB4-9DF8-3A26-CBCF206A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AD05625-8CDC-5946-2EF5-08249CE07B18}"/>
              </a:ext>
            </a:extLst>
          </p:cNvPr>
          <p:cNvSpPr>
            <a:spLocks noGrp="1"/>
          </p:cNvSpPr>
          <p:nvPr>
            <p:ph type="title"/>
          </p:nvPr>
        </p:nvSpPr>
        <p:spPr>
          <a:xfrm>
            <a:off x="612396" y="125437"/>
            <a:ext cx="9692640" cy="879594"/>
          </a:xfrm>
        </p:spPr>
        <p:txBody>
          <a:bodyPr>
            <a:normAutofit/>
          </a:bodyPr>
          <a:lstStyle/>
          <a:p>
            <a:r>
              <a:rPr lang="tr-TR" sz="3600" dirty="0"/>
              <a:t>HMI (İnsan–Makine Arayüzü) Simülasyonu</a:t>
            </a:r>
          </a:p>
        </p:txBody>
      </p:sp>
      <p:sp>
        <p:nvSpPr>
          <p:cNvPr id="10" name="Rectangle 9">
            <a:extLst>
              <a:ext uri="{FF2B5EF4-FFF2-40B4-BE49-F238E27FC236}">
                <a16:creationId xmlns:a16="http://schemas.microsoft.com/office/drawing/2014/main" id="{45CBFE44-B7D7-93E3-5022-6E804C9DD8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6" name="Metin kutusu 5">
            <a:extLst>
              <a:ext uri="{FF2B5EF4-FFF2-40B4-BE49-F238E27FC236}">
                <a16:creationId xmlns:a16="http://schemas.microsoft.com/office/drawing/2014/main" id="{85C18C38-6114-5561-4909-D2E282979928}"/>
              </a:ext>
            </a:extLst>
          </p:cNvPr>
          <p:cNvSpPr txBox="1"/>
          <p:nvPr/>
        </p:nvSpPr>
        <p:spPr>
          <a:xfrm>
            <a:off x="132144" y="1393451"/>
            <a:ext cx="5051886" cy="5716950"/>
          </a:xfrm>
          <a:prstGeom prst="rect">
            <a:avLst/>
          </a:prstGeom>
          <a:noFill/>
        </p:spPr>
        <p:txBody>
          <a:bodyPr wrap="square" rtlCol="0">
            <a:spAutoFit/>
          </a:bodyPr>
          <a:lstStyle/>
          <a:p>
            <a:pPr>
              <a:buNone/>
            </a:pPr>
            <a:r>
              <a:rPr lang="tr-TR" sz="1700" dirty="0"/>
              <a:t>Konsol ekranı gerçek bir kontrol panelinin sadeleştirilmiş hâlidir.</a:t>
            </a:r>
          </a:p>
          <a:p>
            <a:pPr>
              <a:lnSpc>
                <a:spcPct val="150000"/>
              </a:lnSpc>
              <a:buNone/>
            </a:pPr>
            <a:r>
              <a:rPr lang="tr-TR" sz="1700" dirty="0">
                <a:solidFill>
                  <a:srgbClr val="FF0000"/>
                </a:solidFill>
              </a:rPr>
              <a:t>Gösterilen bilgiler:</a:t>
            </a:r>
          </a:p>
          <a:p>
            <a:pPr>
              <a:lnSpc>
                <a:spcPct val="150000"/>
              </a:lnSpc>
              <a:buFont typeface="Arial" panose="020B0604020202020204" pitchFamily="34" charset="0"/>
              <a:buChar char="•"/>
            </a:pPr>
            <a:r>
              <a:rPr lang="tr-TR" sz="1700" dirty="0"/>
              <a:t>Sensörler</a:t>
            </a:r>
          </a:p>
          <a:p>
            <a:pPr>
              <a:lnSpc>
                <a:spcPct val="150000"/>
              </a:lnSpc>
              <a:buFont typeface="Arial" panose="020B0604020202020204" pitchFamily="34" charset="0"/>
              <a:buChar char="•"/>
            </a:pPr>
            <a:r>
              <a:rPr lang="tr-TR" sz="1700" dirty="0"/>
              <a:t>Aktüatör çıkışları</a:t>
            </a:r>
          </a:p>
          <a:p>
            <a:pPr>
              <a:lnSpc>
                <a:spcPct val="150000"/>
              </a:lnSpc>
              <a:buFont typeface="Arial" panose="020B0604020202020204" pitchFamily="34" charset="0"/>
              <a:buChar char="•"/>
            </a:pPr>
            <a:r>
              <a:rPr lang="tr-TR" sz="1700" dirty="0"/>
              <a:t>PID değerleri</a:t>
            </a:r>
          </a:p>
          <a:p>
            <a:pPr>
              <a:lnSpc>
                <a:spcPct val="150000"/>
              </a:lnSpc>
              <a:buFont typeface="Arial" panose="020B0604020202020204" pitchFamily="34" charset="0"/>
              <a:buChar char="•"/>
            </a:pPr>
            <a:r>
              <a:rPr lang="tr-TR" sz="1700" dirty="0" err="1"/>
              <a:t>Ladder</a:t>
            </a:r>
            <a:r>
              <a:rPr lang="tr-TR" sz="1700" dirty="0"/>
              <a:t> basamakları</a:t>
            </a:r>
          </a:p>
          <a:p>
            <a:pPr>
              <a:lnSpc>
                <a:spcPct val="150000"/>
              </a:lnSpc>
              <a:buFont typeface="Arial" panose="020B0604020202020204" pitchFamily="34" charset="0"/>
              <a:buChar char="•"/>
            </a:pPr>
            <a:r>
              <a:rPr lang="tr-TR" sz="1700" dirty="0"/>
              <a:t>Sistem durumu (Start, </a:t>
            </a:r>
            <a:r>
              <a:rPr lang="tr-TR" sz="1700" dirty="0" err="1"/>
              <a:t>Pause</a:t>
            </a:r>
            <a:r>
              <a:rPr lang="tr-TR" sz="1700" dirty="0"/>
              <a:t>, Stop)</a:t>
            </a:r>
          </a:p>
          <a:p>
            <a:pPr>
              <a:lnSpc>
                <a:spcPct val="150000"/>
              </a:lnSpc>
              <a:buNone/>
            </a:pPr>
            <a:r>
              <a:rPr lang="tr-TR" sz="1700" dirty="0">
                <a:solidFill>
                  <a:srgbClr val="FF0000"/>
                </a:solidFill>
              </a:rPr>
              <a:t>Kullanıcı komutları:</a:t>
            </a:r>
          </a:p>
          <a:p>
            <a:pPr>
              <a:lnSpc>
                <a:spcPct val="150000"/>
              </a:lnSpc>
              <a:buFont typeface="Arial" panose="020B0604020202020204" pitchFamily="34" charset="0"/>
              <a:buChar char="•"/>
            </a:pPr>
            <a:r>
              <a:rPr lang="tr-TR" sz="1700" dirty="0"/>
              <a:t>S → Start</a:t>
            </a:r>
          </a:p>
          <a:p>
            <a:pPr>
              <a:lnSpc>
                <a:spcPct val="150000"/>
              </a:lnSpc>
              <a:buFont typeface="Arial" panose="020B0604020202020204" pitchFamily="34" charset="0"/>
              <a:buChar char="•"/>
            </a:pPr>
            <a:r>
              <a:rPr lang="tr-TR" sz="1700" dirty="0"/>
              <a:t>P → </a:t>
            </a:r>
            <a:r>
              <a:rPr lang="tr-TR" sz="1700" dirty="0" err="1"/>
              <a:t>Pause</a:t>
            </a:r>
            <a:endParaRPr lang="tr-TR" sz="1700" dirty="0"/>
          </a:p>
          <a:p>
            <a:pPr>
              <a:lnSpc>
                <a:spcPct val="150000"/>
              </a:lnSpc>
              <a:buFont typeface="Arial" panose="020B0604020202020204" pitchFamily="34" charset="0"/>
              <a:buChar char="•"/>
            </a:pPr>
            <a:r>
              <a:rPr lang="tr-TR" sz="1700" dirty="0"/>
              <a:t>R → Reset</a:t>
            </a:r>
          </a:p>
          <a:p>
            <a:pPr>
              <a:lnSpc>
                <a:spcPct val="150000"/>
              </a:lnSpc>
              <a:buFont typeface="Arial" panose="020B0604020202020204" pitchFamily="34" charset="0"/>
              <a:buChar char="•"/>
            </a:pPr>
            <a:r>
              <a:rPr lang="tr-TR" sz="1700" dirty="0"/>
              <a:t>Q → </a:t>
            </a:r>
            <a:r>
              <a:rPr lang="tr-TR" sz="1700" dirty="0" err="1"/>
              <a:t>Quit</a:t>
            </a:r>
            <a:endParaRPr lang="tr-TR" sz="1700" dirty="0"/>
          </a:p>
          <a:p>
            <a:pPr>
              <a:buNone/>
            </a:pPr>
            <a:r>
              <a:rPr lang="tr-TR" sz="1700" dirty="0"/>
              <a:t>Bu, küçük ölçekte bir SCADA sistemini simüle eder.</a:t>
            </a:r>
          </a:p>
          <a:p>
            <a:endParaRPr lang="tr-TR" sz="1700" dirty="0"/>
          </a:p>
        </p:txBody>
      </p:sp>
      <p:pic>
        <p:nvPicPr>
          <p:cNvPr id="4" name="Resim 3">
            <a:extLst>
              <a:ext uri="{FF2B5EF4-FFF2-40B4-BE49-F238E27FC236}">
                <a16:creationId xmlns:a16="http://schemas.microsoft.com/office/drawing/2014/main" id="{508F5784-98EA-EA5F-85FB-30BD8B6887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8236" y="1393451"/>
            <a:ext cx="4957054" cy="4496072"/>
          </a:xfrm>
          <a:prstGeom prst="rect">
            <a:avLst/>
          </a:prstGeom>
        </p:spPr>
      </p:pic>
    </p:spTree>
    <p:extLst>
      <p:ext uri="{BB962C8B-B14F-4D97-AF65-F5344CB8AC3E}">
        <p14:creationId xmlns:p14="http://schemas.microsoft.com/office/powerpoint/2010/main" val="1776328294"/>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B313567C-1B28-012E-C3CD-81386A01C8F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BC8C5C-8E11-CF31-F4CF-3B186395B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FF96788-7C88-E431-F224-2688996AAEDC}"/>
              </a:ext>
            </a:extLst>
          </p:cNvPr>
          <p:cNvSpPr>
            <a:spLocks noGrp="1"/>
          </p:cNvSpPr>
          <p:nvPr>
            <p:ph type="title"/>
          </p:nvPr>
        </p:nvSpPr>
        <p:spPr>
          <a:xfrm>
            <a:off x="612396" y="125437"/>
            <a:ext cx="9692640" cy="879594"/>
          </a:xfrm>
        </p:spPr>
        <p:txBody>
          <a:bodyPr>
            <a:normAutofit/>
          </a:bodyPr>
          <a:lstStyle/>
          <a:p>
            <a:r>
              <a:rPr lang="tr-TR" sz="3600" dirty="0"/>
              <a:t>Sistemin Çalışması</a:t>
            </a:r>
          </a:p>
        </p:txBody>
      </p:sp>
      <p:sp>
        <p:nvSpPr>
          <p:cNvPr id="10" name="Rectangle 9">
            <a:extLst>
              <a:ext uri="{FF2B5EF4-FFF2-40B4-BE49-F238E27FC236}">
                <a16:creationId xmlns:a16="http://schemas.microsoft.com/office/drawing/2014/main" id="{FBB3F5FB-7F5F-4939-8A30-E7DF45D9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Metin kutusu 2">
            <a:extLst>
              <a:ext uri="{FF2B5EF4-FFF2-40B4-BE49-F238E27FC236}">
                <a16:creationId xmlns:a16="http://schemas.microsoft.com/office/drawing/2014/main" id="{0C8FF873-4C98-6B6F-9DCD-EB2C6719F796}"/>
              </a:ext>
            </a:extLst>
          </p:cNvPr>
          <p:cNvSpPr txBox="1"/>
          <p:nvPr/>
        </p:nvSpPr>
        <p:spPr>
          <a:xfrm>
            <a:off x="285135" y="1425677"/>
            <a:ext cx="5301567" cy="4778231"/>
          </a:xfrm>
          <a:prstGeom prst="rect">
            <a:avLst/>
          </a:prstGeom>
          <a:noFill/>
        </p:spPr>
        <p:txBody>
          <a:bodyPr wrap="square" rtlCol="0">
            <a:spAutoFit/>
          </a:bodyPr>
          <a:lstStyle/>
          <a:p>
            <a:pPr marL="342900" indent="-342900">
              <a:buAutoNum type="arabicParenR"/>
            </a:pPr>
            <a:r>
              <a:rPr lang="tr-TR" b="1" dirty="0">
                <a:solidFill>
                  <a:srgbClr val="FF0000"/>
                </a:solidFill>
              </a:rPr>
              <a:t>Başlangıç Durumu </a:t>
            </a:r>
            <a:r>
              <a:rPr lang="tr-TR" dirty="0"/>
              <a:t>(KAPALI (OFF) modunda açılır)</a:t>
            </a:r>
          </a:p>
          <a:p>
            <a:pPr>
              <a:buNone/>
            </a:pPr>
            <a:endParaRPr lang="tr-TR" dirty="0"/>
          </a:p>
          <a:p>
            <a:pPr>
              <a:buNone/>
            </a:pPr>
            <a:r>
              <a:rPr lang="tr-TR" dirty="0"/>
              <a:t>Program açıldığında sistem:</a:t>
            </a:r>
          </a:p>
          <a:p>
            <a:pPr>
              <a:lnSpc>
                <a:spcPct val="150000"/>
              </a:lnSpc>
              <a:buFont typeface="Arial" panose="020B0604020202020204" pitchFamily="34" charset="0"/>
              <a:buChar char="•"/>
            </a:pPr>
            <a:r>
              <a:rPr lang="tr-TR" sz="1700" b="1" dirty="0">
                <a:solidFill>
                  <a:srgbClr val="FF0000"/>
                </a:solidFill>
              </a:rPr>
              <a:t>Durum</a:t>
            </a:r>
            <a:r>
              <a:rPr lang="tr-TR" sz="1700" b="1" dirty="0"/>
              <a:t> = </a:t>
            </a:r>
            <a:r>
              <a:rPr lang="tr-TR" sz="1600" dirty="0"/>
              <a:t>KAPALI (OFF) </a:t>
            </a:r>
            <a:r>
              <a:rPr lang="tr-TR" sz="1700" dirty="0">
                <a:solidFill>
                  <a:srgbClr val="FF0000"/>
                </a:solidFill>
              </a:rPr>
              <a:t>Makine</a:t>
            </a:r>
            <a:r>
              <a:rPr lang="tr-TR" sz="1700" dirty="0"/>
              <a:t> = </a:t>
            </a:r>
            <a:r>
              <a:rPr lang="tr-TR" sz="1700" i="1" dirty="0"/>
              <a:t>Kapalı</a:t>
            </a:r>
            <a:endParaRPr lang="tr-TR" sz="1700" dirty="0"/>
          </a:p>
          <a:p>
            <a:pPr>
              <a:lnSpc>
                <a:spcPct val="150000"/>
              </a:lnSpc>
              <a:buFont typeface="Arial" panose="020B0604020202020204" pitchFamily="34" charset="0"/>
              <a:buChar char="•"/>
            </a:pPr>
            <a:r>
              <a:rPr lang="tr-TR" sz="1700" dirty="0">
                <a:solidFill>
                  <a:srgbClr val="FF0000"/>
                </a:solidFill>
              </a:rPr>
              <a:t>Motor PWM </a:t>
            </a:r>
            <a:r>
              <a:rPr lang="tr-TR" sz="1700" dirty="0"/>
              <a:t>= </a:t>
            </a:r>
            <a:r>
              <a:rPr lang="tr-TR" sz="1700" i="1" dirty="0"/>
              <a:t>0%</a:t>
            </a:r>
            <a:endParaRPr lang="tr-TR" sz="1700" dirty="0"/>
          </a:p>
          <a:p>
            <a:pPr>
              <a:lnSpc>
                <a:spcPct val="150000"/>
              </a:lnSpc>
              <a:buFont typeface="Arial" panose="020B0604020202020204" pitchFamily="34" charset="0"/>
              <a:buChar char="•"/>
            </a:pPr>
            <a:r>
              <a:rPr lang="tr-TR" sz="1700" dirty="0">
                <a:solidFill>
                  <a:srgbClr val="FF0000"/>
                </a:solidFill>
              </a:rPr>
              <a:t>Alarm</a:t>
            </a:r>
            <a:r>
              <a:rPr lang="tr-TR" sz="1700" dirty="0"/>
              <a:t> = </a:t>
            </a:r>
            <a:r>
              <a:rPr lang="tr-TR" sz="1700" i="1" dirty="0"/>
              <a:t>Kapalı</a:t>
            </a:r>
            <a:endParaRPr lang="tr-TR" sz="1700" dirty="0"/>
          </a:p>
          <a:p>
            <a:pPr>
              <a:lnSpc>
                <a:spcPct val="150000"/>
              </a:lnSpc>
              <a:buFont typeface="Arial" panose="020B0604020202020204" pitchFamily="34" charset="0"/>
              <a:buChar char="•"/>
            </a:pPr>
            <a:r>
              <a:rPr lang="tr-TR" sz="1700" dirty="0">
                <a:solidFill>
                  <a:srgbClr val="FF0000"/>
                </a:solidFill>
              </a:rPr>
              <a:t>Sensörler varsayılan değerlerde</a:t>
            </a:r>
          </a:p>
          <a:p>
            <a:pPr>
              <a:lnSpc>
                <a:spcPct val="150000"/>
              </a:lnSpc>
              <a:buFont typeface="Arial" panose="020B0604020202020204" pitchFamily="34" charset="0"/>
              <a:buChar char="•"/>
            </a:pPr>
            <a:r>
              <a:rPr lang="tr-TR" sz="1700" dirty="0">
                <a:solidFill>
                  <a:srgbClr val="FF0000"/>
                </a:solidFill>
              </a:rPr>
              <a:t>Hiçbir </a:t>
            </a:r>
            <a:r>
              <a:rPr lang="tr-TR" sz="1700" dirty="0" err="1">
                <a:solidFill>
                  <a:srgbClr val="FF0000"/>
                </a:solidFill>
              </a:rPr>
              <a:t>ladder</a:t>
            </a:r>
            <a:r>
              <a:rPr lang="tr-TR" sz="1700" dirty="0">
                <a:solidFill>
                  <a:srgbClr val="FF0000"/>
                </a:solidFill>
              </a:rPr>
              <a:t> koşulu aktif değildir</a:t>
            </a:r>
            <a:r>
              <a:rPr lang="tr-TR" sz="1700" dirty="0"/>
              <a:t> (hepsi </a:t>
            </a:r>
            <a:r>
              <a:rPr lang="tr-TR" sz="1700" b="1" dirty="0"/>
              <a:t>[PASİF]</a:t>
            </a:r>
            <a:r>
              <a:rPr lang="tr-TR" sz="1700" dirty="0"/>
              <a:t> görünür)</a:t>
            </a:r>
          </a:p>
          <a:p>
            <a:pPr>
              <a:lnSpc>
                <a:spcPct val="150000"/>
              </a:lnSpc>
              <a:buFont typeface="Arial" panose="020B0604020202020204" pitchFamily="34" charset="0"/>
              <a:buChar char="•"/>
            </a:pPr>
            <a:r>
              <a:rPr lang="tr-TR" sz="1600" b="1" dirty="0">
                <a:solidFill>
                  <a:srgbClr val="FF0000"/>
                </a:solidFill>
              </a:rPr>
              <a:t>Mod</a:t>
            </a:r>
            <a:r>
              <a:rPr lang="tr-TR" sz="1600" b="1" dirty="0"/>
              <a:t> =</a:t>
            </a:r>
            <a:r>
              <a:rPr lang="tr-TR" sz="1600" dirty="0"/>
              <a:t> SISTEM KAPALI (Beklemede)</a:t>
            </a:r>
            <a:endParaRPr lang="tr-TR" sz="1700" dirty="0"/>
          </a:p>
          <a:p>
            <a:pPr>
              <a:buNone/>
            </a:pPr>
            <a:r>
              <a:rPr lang="tr-TR" dirty="0"/>
              <a:t>Bu durumda üretim başlayamaz; sadece sistem gözlemlenebilir.</a:t>
            </a:r>
          </a:p>
          <a:p>
            <a:endParaRPr lang="tr-TR" dirty="0"/>
          </a:p>
        </p:txBody>
      </p:sp>
      <p:pic>
        <p:nvPicPr>
          <p:cNvPr id="5" name="Resim 4" descr="metin, elektronik donanım, ekran görüntüsü, yazılım içeren bir resim">
            <a:extLst>
              <a:ext uri="{FF2B5EF4-FFF2-40B4-BE49-F238E27FC236}">
                <a16:creationId xmlns:a16="http://schemas.microsoft.com/office/drawing/2014/main" id="{BD3B33C8-253A-2F74-EA19-C5FE3E11E3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2401" y="1130468"/>
            <a:ext cx="5062714" cy="4591906"/>
          </a:xfrm>
          <a:prstGeom prst="rect">
            <a:avLst/>
          </a:prstGeom>
        </p:spPr>
      </p:pic>
    </p:spTree>
    <p:extLst>
      <p:ext uri="{BB962C8B-B14F-4D97-AF65-F5344CB8AC3E}">
        <p14:creationId xmlns:p14="http://schemas.microsoft.com/office/powerpoint/2010/main" val="229019187"/>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19AAA43-DB70-D5BC-477A-D67CBFA2724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6701F8-E60C-4FC4-C6FC-52589B184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E35237A-98D4-A628-0364-8CE337CA3672}"/>
              </a:ext>
            </a:extLst>
          </p:cNvPr>
          <p:cNvSpPr>
            <a:spLocks noGrp="1"/>
          </p:cNvSpPr>
          <p:nvPr>
            <p:ph type="title"/>
          </p:nvPr>
        </p:nvSpPr>
        <p:spPr>
          <a:xfrm>
            <a:off x="592731" y="226754"/>
            <a:ext cx="9692640" cy="879594"/>
          </a:xfrm>
        </p:spPr>
        <p:txBody>
          <a:bodyPr>
            <a:normAutofit/>
          </a:bodyPr>
          <a:lstStyle/>
          <a:p>
            <a:r>
              <a:rPr lang="tr-TR" sz="3600" dirty="0"/>
              <a:t>Sistemin Çalışması</a:t>
            </a:r>
          </a:p>
        </p:txBody>
      </p:sp>
      <p:sp>
        <p:nvSpPr>
          <p:cNvPr id="10" name="Rectangle 9">
            <a:extLst>
              <a:ext uri="{FF2B5EF4-FFF2-40B4-BE49-F238E27FC236}">
                <a16:creationId xmlns:a16="http://schemas.microsoft.com/office/drawing/2014/main" id="{30F28938-CC1C-5B42-EDA7-F17D5B93E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Metin kutusu 2">
            <a:extLst>
              <a:ext uri="{FF2B5EF4-FFF2-40B4-BE49-F238E27FC236}">
                <a16:creationId xmlns:a16="http://schemas.microsoft.com/office/drawing/2014/main" id="{81BBABD3-2797-8155-A256-5794A01911FB}"/>
              </a:ext>
            </a:extLst>
          </p:cNvPr>
          <p:cNvSpPr txBox="1"/>
          <p:nvPr/>
        </p:nvSpPr>
        <p:spPr>
          <a:xfrm>
            <a:off x="337233" y="1504335"/>
            <a:ext cx="5301567" cy="4247317"/>
          </a:xfrm>
          <a:prstGeom prst="rect">
            <a:avLst/>
          </a:prstGeom>
          <a:noFill/>
        </p:spPr>
        <p:txBody>
          <a:bodyPr wrap="square" rtlCol="0">
            <a:spAutoFit/>
          </a:bodyPr>
          <a:lstStyle/>
          <a:p>
            <a:pPr>
              <a:lnSpc>
                <a:spcPct val="150000"/>
              </a:lnSpc>
              <a:buNone/>
            </a:pPr>
            <a:r>
              <a:rPr lang="tr-TR" b="1" dirty="0">
                <a:solidFill>
                  <a:srgbClr val="FF0000"/>
                </a:solidFill>
              </a:rPr>
              <a:t>2) Kullanılabilen Komutlar</a:t>
            </a:r>
          </a:p>
          <a:p>
            <a:pPr>
              <a:lnSpc>
                <a:spcPct val="150000"/>
              </a:lnSpc>
              <a:buNone/>
            </a:pPr>
            <a:r>
              <a:rPr lang="tr-TR" dirty="0"/>
              <a:t>Ekranın altında şu komutlar görünür:</a:t>
            </a:r>
          </a:p>
          <a:p>
            <a:pPr>
              <a:buNone/>
            </a:pPr>
            <a:endParaRPr lang="tr-TR" dirty="0"/>
          </a:p>
          <a:p>
            <a:pPr>
              <a:lnSpc>
                <a:spcPct val="150000"/>
              </a:lnSpc>
              <a:buNone/>
            </a:pPr>
            <a:r>
              <a:rPr lang="tr-TR" sz="3000" dirty="0"/>
              <a:t>[S]tart  </a:t>
            </a:r>
          </a:p>
          <a:p>
            <a:pPr>
              <a:lnSpc>
                <a:spcPct val="150000"/>
              </a:lnSpc>
              <a:buNone/>
            </a:pPr>
            <a:r>
              <a:rPr lang="tr-TR" sz="3000" dirty="0"/>
              <a:t>[P]</a:t>
            </a:r>
            <a:r>
              <a:rPr lang="tr-TR" sz="3000" dirty="0" err="1"/>
              <a:t>ause</a:t>
            </a:r>
            <a:r>
              <a:rPr lang="tr-TR" sz="3000" dirty="0"/>
              <a:t>  </a:t>
            </a:r>
          </a:p>
          <a:p>
            <a:pPr>
              <a:lnSpc>
                <a:spcPct val="150000"/>
              </a:lnSpc>
              <a:buNone/>
            </a:pPr>
            <a:r>
              <a:rPr lang="tr-TR" sz="3000" dirty="0"/>
              <a:t>[R]</a:t>
            </a:r>
            <a:r>
              <a:rPr lang="tr-TR" sz="3000" dirty="0" err="1"/>
              <a:t>eset</a:t>
            </a:r>
            <a:r>
              <a:rPr lang="tr-TR" sz="3000" dirty="0"/>
              <a:t>  </a:t>
            </a:r>
          </a:p>
          <a:p>
            <a:pPr>
              <a:lnSpc>
                <a:spcPct val="150000"/>
              </a:lnSpc>
              <a:buNone/>
            </a:pPr>
            <a:r>
              <a:rPr lang="tr-TR" sz="3000" dirty="0"/>
              <a:t>[Q]</a:t>
            </a:r>
            <a:r>
              <a:rPr lang="tr-TR" sz="3000" dirty="0" err="1"/>
              <a:t>uit</a:t>
            </a:r>
            <a:endParaRPr lang="tr-TR" sz="3000" dirty="0"/>
          </a:p>
          <a:p>
            <a:pPr>
              <a:buNone/>
            </a:pPr>
            <a:endParaRPr lang="tr-TR" dirty="0"/>
          </a:p>
        </p:txBody>
      </p:sp>
      <p:pic>
        <p:nvPicPr>
          <p:cNvPr id="6" name="Resim 5" descr="metin, ekran görüntüsü, yazılım, yazı tipi içeren bir resim&#10;&#10;Yapay zeka tarafından oluşturulmuş içerik yanlış olabilir.">
            <a:extLst>
              <a:ext uri="{FF2B5EF4-FFF2-40B4-BE49-F238E27FC236}">
                <a16:creationId xmlns:a16="http://schemas.microsoft.com/office/drawing/2014/main" id="{BAAE478E-9F8F-6525-DABB-CC5984FD4F4F}"/>
              </a:ext>
            </a:extLst>
          </p:cNvPr>
          <p:cNvPicPr>
            <a:picLocks noChangeAspect="1"/>
          </p:cNvPicPr>
          <p:nvPr/>
        </p:nvPicPr>
        <p:blipFill>
          <a:blip r:embed="rId2"/>
          <a:stretch>
            <a:fillRect/>
          </a:stretch>
        </p:blipFill>
        <p:spPr>
          <a:xfrm>
            <a:off x="5638800" y="1333102"/>
            <a:ext cx="5313924" cy="5240374"/>
          </a:xfrm>
          <a:prstGeom prst="rect">
            <a:avLst/>
          </a:prstGeom>
        </p:spPr>
      </p:pic>
    </p:spTree>
    <p:extLst>
      <p:ext uri="{BB962C8B-B14F-4D97-AF65-F5344CB8AC3E}">
        <p14:creationId xmlns:p14="http://schemas.microsoft.com/office/powerpoint/2010/main" val="3309937976"/>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989F67D-5FD6-BB53-97F7-06C6693B1E8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63F4013-DF65-DC5F-271D-8623185F2E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4453605-6502-1F0B-72ED-C57C4C3117A0}"/>
              </a:ext>
            </a:extLst>
          </p:cNvPr>
          <p:cNvSpPr>
            <a:spLocks noGrp="1"/>
          </p:cNvSpPr>
          <p:nvPr>
            <p:ph type="title"/>
          </p:nvPr>
        </p:nvSpPr>
        <p:spPr>
          <a:xfrm>
            <a:off x="592731" y="226754"/>
            <a:ext cx="9692640" cy="545033"/>
          </a:xfrm>
        </p:spPr>
        <p:txBody>
          <a:bodyPr>
            <a:normAutofit fontScale="90000"/>
          </a:bodyPr>
          <a:lstStyle/>
          <a:p>
            <a:r>
              <a:rPr lang="tr-TR" sz="3600" dirty="0"/>
              <a:t>Sistemin Çalışması</a:t>
            </a:r>
          </a:p>
        </p:txBody>
      </p:sp>
      <p:sp>
        <p:nvSpPr>
          <p:cNvPr id="10" name="Rectangle 9">
            <a:extLst>
              <a:ext uri="{FF2B5EF4-FFF2-40B4-BE49-F238E27FC236}">
                <a16:creationId xmlns:a16="http://schemas.microsoft.com/office/drawing/2014/main" id="{FB778D2C-89A4-A8E3-1898-5B319470E8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Metin kutusu 3">
            <a:extLst>
              <a:ext uri="{FF2B5EF4-FFF2-40B4-BE49-F238E27FC236}">
                <a16:creationId xmlns:a16="http://schemas.microsoft.com/office/drawing/2014/main" id="{0874BFD6-7513-14C4-0905-A0E982D6E163}"/>
              </a:ext>
            </a:extLst>
          </p:cNvPr>
          <p:cNvSpPr txBox="1"/>
          <p:nvPr/>
        </p:nvSpPr>
        <p:spPr>
          <a:xfrm>
            <a:off x="188625" y="953730"/>
            <a:ext cx="5250426" cy="6375015"/>
          </a:xfrm>
          <a:prstGeom prst="rect">
            <a:avLst/>
          </a:prstGeom>
          <a:noFill/>
        </p:spPr>
        <p:txBody>
          <a:bodyPr wrap="square" rtlCol="0">
            <a:spAutoFit/>
          </a:bodyPr>
          <a:lstStyle/>
          <a:p>
            <a:pPr>
              <a:lnSpc>
                <a:spcPct val="150000"/>
              </a:lnSpc>
              <a:buNone/>
            </a:pPr>
            <a:r>
              <a:rPr lang="tr-TR" sz="1400" b="1" dirty="0">
                <a:solidFill>
                  <a:srgbClr val="FF0000"/>
                </a:solidFill>
              </a:rPr>
              <a:t>[S] – START </a:t>
            </a:r>
            <a:r>
              <a:rPr lang="tr-TR" sz="1400" b="1" dirty="0"/>
              <a:t>(Sistemi Başlatır)</a:t>
            </a:r>
          </a:p>
          <a:p>
            <a:pPr>
              <a:lnSpc>
                <a:spcPct val="150000"/>
              </a:lnSpc>
              <a:buNone/>
            </a:pPr>
            <a:r>
              <a:rPr lang="tr-TR" sz="1400" dirty="0"/>
              <a:t>Kullanıcı </a:t>
            </a:r>
            <a:r>
              <a:rPr lang="tr-TR" sz="1400" b="1" dirty="0"/>
              <a:t>S tuşuna bastığında</a:t>
            </a:r>
            <a:r>
              <a:rPr lang="tr-TR" sz="1400" dirty="0"/>
              <a:t>:</a:t>
            </a:r>
          </a:p>
          <a:p>
            <a:pPr>
              <a:lnSpc>
                <a:spcPct val="150000"/>
              </a:lnSpc>
              <a:buFont typeface="Arial" panose="020B0604020202020204" pitchFamily="34" charset="0"/>
              <a:buChar char="•"/>
            </a:pPr>
            <a:r>
              <a:rPr lang="tr-TR" sz="1400" dirty="0"/>
              <a:t>Durum → URETIM (RUN) olur.</a:t>
            </a:r>
          </a:p>
          <a:p>
            <a:pPr>
              <a:lnSpc>
                <a:spcPct val="150000"/>
              </a:lnSpc>
              <a:buFont typeface="Arial" panose="020B0604020202020204" pitchFamily="34" charset="0"/>
              <a:buChar char="•"/>
            </a:pPr>
            <a:r>
              <a:rPr lang="tr-TR" sz="1400" dirty="0"/>
              <a:t>Mod → </a:t>
            </a:r>
            <a:r>
              <a:rPr lang="tr-TR" sz="1400" b="1" dirty="0"/>
              <a:t>NORMAL MOD (Stabil Çalışma)</a:t>
            </a:r>
            <a:r>
              <a:rPr lang="tr-TR" sz="1400" dirty="0"/>
              <a:t> olur.</a:t>
            </a:r>
          </a:p>
          <a:p>
            <a:pPr>
              <a:lnSpc>
                <a:spcPct val="150000"/>
              </a:lnSpc>
              <a:buFont typeface="Arial" panose="020B0604020202020204" pitchFamily="34" charset="0"/>
              <a:buChar char="•"/>
            </a:pPr>
            <a:r>
              <a:rPr lang="tr-TR" sz="1400" dirty="0"/>
              <a:t>İşlemci (</a:t>
            </a:r>
            <a:r>
              <a:rPr lang="tr-TR" sz="1400" dirty="0" err="1"/>
              <a:t>Thread</a:t>
            </a:r>
            <a:r>
              <a:rPr lang="tr-TR" sz="1400" dirty="0"/>
              <a:t>) devreye girer ve "</a:t>
            </a:r>
            <a:r>
              <a:rPr lang="tr-TR" sz="1400" dirty="0" err="1"/>
              <a:t>Fetch-Decode-Execute</a:t>
            </a:r>
            <a:r>
              <a:rPr lang="tr-TR" sz="1400" dirty="0"/>
              <a:t>" döngüsü başlar.</a:t>
            </a:r>
          </a:p>
          <a:p>
            <a:pPr>
              <a:lnSpc>
                <a:spcPct val="150000"/>
              </a:lnSpc>
              <a:buFont typeface="Arial" panose="020B0604020202020204" pitchFamily="34" charset="0"/>
              <a:buChar char="•"/>
            </a:pPr>
            <a:r>
              <a:rPr lang="tr-TR" sz="1400" dirty="0"/>
              <a:t>Döngü sayacı her saniye artmaya başlar.</a:t>
            </a:r>
          </a:p>
          <a:p>
            <a:pPr>
              <a:lnSpc>
                <a:spcPct val="150000"/>
              </a:lnSpc>
              <a:buFont typeface="Arial" panose="020B0604020202020204" pitchFamily="34" charset="0"/>
              <a:buChar char="•"/>
            </a:pPr>
            <a:r>
              <a:rPr lang="tr-TR" sz="1400" dirty="0"/>
              <a:t>Sensör değerleri simülasyon tarafından dinamik olarak güncellenir.</a:t>
            </a:r>
          </a:p>
          <a:p>
            <a:pPr>
              <a:lnSpc>
                <a:spcPct val="150000"/>
              </a:lnSpc>
              <a:buFont typeface="Arial" panose="020B0604020202020204" pitchFamily="34" charset="0"/>
              <a:buChar char="•"/>
            </a:pPr>
            <a:r>
              <a:rPr lang="tr-TR" sz="1400" dirty="0" err="1"/>
              <a:t>Ladder</a:t>
            </a:r>
            <a:r>
              <a:rPr lang="tr-TR" sz="1400" dirty="0"/>
              <a:t> koşulları aktif/pasif durumuna göre çıkışlar değişmeye başlar.</a:t>
            </a:r>
          </a:p>
          <a:p>
            <a:pPr>
              <a:lnSpc>
                <a:spcPct val="150000"/>
              </a:lnSpc>
              <a:buNone/>
            </a:pPr>
            <a:r>
              <a:rPr lang="tr-TR" sz="1400" b="1" dirty="0">
                <a:solidFill>
                  <a:srgbClr val="FF0000"/>
                </a:solidFill>
              </a:rPr>
              <a:t>Neler olabilir?</a:t>
            </a:r>
            <a:endParaRPr lang="tr-TR" sz="1400" dirty="0">
              <a:solidFill>
                <a:srgbClr val="FF0000"/>
              </a:solidFill>
            </a:endParaRPr>
          </a:p>
          <a:p>
            <a:pPr>
              <a:lnSpc>
                <a:spcPct val="150000"/>
              </a:lnSpc>
              <a:buFont typeface="Arial" panose="020B0604020202020204" pitchFamily="34" charset="0"/>
              <a:buChar char="•"/>
            </a:pPr>
            <a:r>
              <a:rPr lang="tr-TR" sz="1400" dirty="0"/>
              <a:t>Hammadde ≥ 5 VE işçi VAR ise → Makine otomatik başlatılır.</a:t>
            </a:r>
          </a:p>
          <a:p>
            <a:pPr>
              <a:lnSpc>
                <a:spcPct val="150000"/>
              </a:lnSpc>
              <a:buFont typeface="Arial" panose="020B0604020202020204" pitchFamily="34" charset="0"/>
              <a:buChar char="•"/>
            </a:pPr>
            <a:r>
              <a:rPr lang="tr-TR" sz="1400" dirty="0"/>
              <a:t>Sıcaklık çok artarsa → Alarm aktif olur.</a:t>
            </a:r>
          </a:p>
          <a:p>
            <a:pPr>
              <a:lnSpc>
                <a:spcPct val="150000"/>
              </a:lnSpc>
              <a:buFont typeface="Arial" panose="020B0604020202020204" pitchFamily="34" charset="0"/>
              <a:buChar char="•"/>
            </a:pPr>
            <a:r>
              <a:rPr lang="tr-TR" sz="1400" dirty="0"/>
              <a:t>Basınç düşerse → Makine durdurulur.</a:t>
            </a:r>
          </a:p>
          <a:p>
            <a:pPr>
              <a:lnSpc>
                <a:spcPct val="150000"/>
              </a:lnSpc>
              <a:buFont typeface="Arial" panose="020B0604020202020204" pitchFamily="34" charset="0"/>
              <a:buChar char="•"/>
            </a:pPr>
            <a:r>
              <a:rPr lang="tr-TR" sz="1400" dirty="0"/>
              <a:t>PID kontrol motor PWM değerini ayarlamaya başlar.</a:t>
            </a:r>
          </a:p>
          <a:p>
            <a:pPr>
              <a:lnSpc>
                <a:spcPct val="150000"/>
              </a:lnSpc>
              <a:buNone/>
            </a:pPr>
            <a:r>
              <a:rPr lang="tr-TR" sz="1400" dirty="0"/>
              <a:t>Yani fabrika </a:t>
            </a:r>
            <a:r>
              <a:rPr lang="tr-TR" sz="1400" b="1" dirty="0"/>
              <a:t>otomatik moda geçmiş</a:t>
            </a:r>
            <a:r>
              <a:rPr lang="tr-TR" sz="1400" dirty="0"/>
              <a:t> olur.</a:t>
            </a:r>
          </a:p>
          <a:p>
            <a:pPr>
              <a:lnSpc>
                <a:spcPct val="150000"/>
              </a:lnSpc>
            </a:pPr>
            <a:endParaRPr lang="tr-TR" sz="1400" dirty="0"/>
          </a:p>
        </p:txBody>
      </p:sp>
      <p:pic>
        <p:nvPicPr>
          <p:cNvPr id="9" name="Resim 8" descr="metin, ekran görüntüsü, yazılım, yazı tipi içeren bir resim">
            <a:extLst>
              <a:ext uri="{FF2B5EF4-FFF2-40B4-BE49-F238E27FC236}">
                <a16:creationId xmlns:a16="http://schemas.microsoft.com/office/drawing/2014/main" id="{D22203B3-1CA6-7B3A-41C6-FE4E4D1C6298}"/>
              </a:ext>
            </a:extLst>
          </p:cNvPr>
          <p:cNvPicPr>
            <a:picLocks noChangeAspect="1"/>
          </p:cNvPicPr>
          <p:nvPr/>
        </p:nvPicPr>
        <p:blipFill>
          <a:blip r:embed="rId2"/>
          <a:stretch>
            <a:fillRect/>
          </a:stretch>
        </p:blipFill>
        <p:spPr>
          <a:xfrm>
            <a:off x="5627676" y="1165885"/>
            <a:ext cx="5358581" cy="5284414"/>
          </a:xfrm>
          <a:prstGeom prst="rect">
            <a:avLst/>
          </a:prstGeom>
        </p:spPr>
      </p:pic>
    </p:spTree>
    <p:extLst>
      <p:ext uri="{BB962C8B-B14F-4D97-AF65-F5344CB8AC3E}">
        <p14:creationId xmlns:p14="http://schemas.microsoft.com/office/powerpoint/2010/main" val="915567253"/>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69E8ABC-F684-2E87-6512-4C9A53B186E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C7934B-B41C-2DBC-E070-DE801D62D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080ECFF-A761-AB7E-A002-6E8BF8408E47}"/>
              </a:ext>
            </a:extLst>
          </p:cNvPr>
          <p:cNvSpPr>
            <a:spLocks noGrp="1"/>
          </p:cNvSpPr>
          <p:nvPr>
            <p:ph type="title"/>
          </p:nvPr>
        </p:nvSpPr>
        <p:spPr>
          <a:xfrm>
            <a:off x="592731" y="415361"/>
            <a:ext cx="9692640" cy="545033"/>
          </a:xfrm>
        </p:spPr>
        <p:txBody>
          <a:bodyPr>
            <a:normAutofit fontScale="90000"/>
          </a:bodyPr>
          <a:lstStyle/>
          <a:p>
            <a:r>
              <a:rPr lang="tr-TR" sz="3600" dirty="0"/>
              <a:t>Sistemin Çalışması</a:t>
            </a:r>
          </a:p>
        </p:txBody>
      </p:sp>
      <p:sp>
        <p:nvSpPr>
          <p:cNvPr id="10" name="Rectangle 9">
            <a:extLst>
              <a:ext uri="{FF2B5EF4-FFF2-40B4-BE49-F238E27FC236}">
                <a16:creationId xmlns:a16="http://schemas.microsoft.com/office/drawing/2014/main" id="{30CA7303-1F58-8A02-3FA0-99CAB30D6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Metin kutusu 2">
            <a:extLst>
              <a:ext uri="{FF2B5EF4-FFF2-40B4-BE49-F238E27FC236}">
                <a16:creationId xmlns:a16="http://schemas.microsoft.com/office/drawing/2014/main" id="{CE66C986-343D-236E-6AB3-DE431588F82E}"/>
              </a:ext>
            </a:extLst>
          </p:cNvPr>
          <p:cNvSpPr txBox="1"/>
          <p:nvPr/>
        </p:nvSpPr>
        <p:spPr>
          <a:xfrm>
            <a:off x="403123" y="1540081"/>
            <a:ext cx="4463845" cy="5670527"/>
          </a:xfrm>
          <a:prstGeom prst="rect">
            <a:avLst/>
          </a:prstGeom>
          <a:noFill/>
        </p:spPr>
        <p:txBody>
          <a:bodyPr wrap="square" rtlCol="0">
            <a:spAutoFit/>
          </a:bodyPr>
          <a:lstStyle/>
          <a:p>
            <a:pPr>
              <a:lnSpc>
                <a:spcPct val="150000"/>
              </a:lnSpc>
              <a:buNone/>
            </a:pPr>
            <a:r>
              <a:rPr lang="tr-TR" b="1" dirty="0">
                <a:solidFill>
                  <a:srgbClr val="FF0000"/>
                </a:solidFill>
              </a:rPr>
              <a:t>[P] – PAUSE </a:t>
            </a:r>
            <a:r>
              <a:rPr lang="tr-TR" b="1" dirty="0"/>
              <a:t>(Sistemi Duraklatır)</a:t>
            </a:r>
          </a:p>
          <a:p>
            <a:pPr>
              <a:lnSpc>
                <a:spcPct val="150000"/>
              </a:lnSpc>
              <a:buNone/>
            </a:pPr>
            <a:r>
              <a:rPr lang="tr-TR" sz="1600" dirty="0"/>
              <a:t>Kullanıcı </a:t>
            </a:r>
            <a:r>
              <a:rPr lang="tr-TR" sz="1600" b="1" dirty="0"/>
              <a:t>P tuşuna bastığında:</a:t>
            </a:r>
            <a:endParaRPr lang="tr-TR" sz="1600" dirty="0"/>
          </a:p>
          <a:p>
            <a:pPr>
              <a:lnSpc>
                <a:spcPct val="150000"/>
              </a:lnSpc>
              <a:buFont typeface="Arial" panose="020B0604020202020204" pitchFamily="34" charset="0"/>
              <a:buChar char="•"/>
            </a:pPr>
            <a:r>
              <a:rPr lang="tr-TR" sz="1600" dirty="0"/>
              <a:t>Durum → </a:t>
            </a:r>
            <a:r>
              <a:rPr lang="tr-TR" sz="1600" b="1" dirty="0"/>
              <a:t>PAUSE (IDLE)</a:t>
            </a:r>
            <a:r>
              <a:rPr lang="tr-TR" sz="1600" dirty="0"/>
              <a:t> olur.</a:t>
            </a:r>
          </a:p>
          <a:p>
            <a:pPr>
              <a:lnSpc>
                <a:spcPct val="150000"/>
              </a:lnSpc>
              <a:buFont typeface="Arial" panose="020B0604020202020204" pitchFamily="34" charset="0"/>
              <a:buChar char="•"/>
            </a:pPr>
            <a:r>
              <a:rPr lang="tr-TR" sz="1600" dirty="0"/>
              <a:t>Döngü sayacı </a:t>
            </a:r>
            <a:r>
              <a:rPr lang="tr-TR" sz="1600" b="1" dirty="0"/>
              <a:t>ARTMAYA DEVAM EDER.</a:t>
            </a:r>
            <a:r>
              <a:rPr lang="tr-TR" sz="1600" dirty="0"/>
              <a:t> (Çünkü İşlemci uyumaz!)</a:t>
            </a:r>
          </a:p>
          <a:p>
            <a:pPr>
              <a:lnSpc>
                <a:spcPct val="150000"/>
              </a:lnSpc>
              <a:buFont typeface="Arial" panose="020B0604020202020204" pitchFamily="34" charset="0"/>
              <a:buChar char="•"/>
            </a:pPr>
            <a:r>
              <a:rPr lang="tr-TR" sz="1600" dirty="0"/>
              <a:t>Sensörler GÜNCELLENMEYE DEVAM EDER.</a:t>
            </a:r>
          </a:p>
          <a:p>
            <a:pPr>
              <a:lnSpc>
                <a:spcPct val="150000"/>
              </a:lnSpc>
              <a:buFont typeface="Arial" panose="020B0604020202020204" pitchFamily="34" charset="0"/>
              <a:buChar char="•"/>
            </a:pPr>
            <a:r>
              <a:rPr lang="tr-TR" sz="1600" dirty="0"/>
              <a:t>Makine ve motor Güvenlik Gereği Zorla Kapatılır.</a:t>
            </a:r>
          </a:p>
          <a:p>
            <a:pPr>
              <a:lnSpc>
                <a:spcPct val="150000"/>
              </a:lnSpc>
              <a:buFont typeface="Arial" panose="020B0604020202020204" pitchFamily="34" charset="0"/>
              <a:buChar char="•"/>
            </a:pPr>
            <a:r>
              <a:rPr lang="tr-TR" sz="1600" dirty="0"/>
              <a:t>Aktüatörler mevcut durumunda sabit kalır.</a:t>
            </a:r>
          </a:p>
          <a:p>
            <a:pPr>
              <a:lnSpc>
                <a:spcPct val="150000"/>
              </a:lnSpc>
              <a:buFont typeface="Arial" panose="020B0604020202020204" pitchFamily="34" charset="0"/>
              <a:buChar char="•"/>
            </a:pPr>
            <a:r>
              <a:rPr lang="tr-TR" sz="1600" dirty="0" err="1"/>
              <a:t>Ladder</a:t>
            </a:r>
            <a:r>
              <a:rPr lang="tr-TR" sz="1600" dirty="0"/>
              <a:t> koşulları işlemeyi geçici olarak bırakır.</a:t>
            </a:r>
          </a:p>
          <a:p>
            <a:pPr>
              <a:lnSpc>
                <a:spcPct val="150000"/>
              </a:lnSpc>
              <a:buNone/>
            </a:pPr>
            <a:r>
              <a:rPr lang="tr-TR" sz="1600" dirty="0"/>
              <a:t>Bu mod, gerçek fabrikadaki “makineyi durdur ama kapatma” durumunun aynısıdır.</a:t>
            </a:r>
          </a:p>
          <a:p>
            <a:pPr>
              <a:lnSpc>
                <a:spcPct val="150000"/>
              </a:lnSpc>
            </a:pPr>
            <a:endParaRPr lang="tr-TR" dirty="0"/>
          </a:p>
        </p:txBody>
      </p:sp>
      <p:pic>
        <p:nvPicPr>
          <p:cNvPr id="9" name="Resim 8" descr="metin, ekran görüntüsü, yazılım, yazı tipi içeren bir resim">
            <a:extLst>
              <a:ext uri="{FF2B5EF4-FFF2-40B4-BE49-F238E27FC236}">
                <a16:creationId xmlns:a16="http://schemas.microsoft.com/office/drawing/2014/main" id="{560917B5-8229-7F06-1663-589CBEB906E5}"/>
              </a:ext>
            </a:extLst>
          </p:cNvPr>
          <p:cNvPicPr>
            <a:picLocks noChangeAspect="1"/>
          </p:cNvPicPr>
          <p:nvPr/>
        </p:nvPicPr>
        <p:blipFill>
          <a:blip r:embed="rId2"/>
          <a:stretch>
            <a:fillRect/>
          </a:stretch>
        </p:blipFill>
        <p:spPr>
          <a:xfrm>
            <a:off x="5939036" y="1462600"/>
            <a:ext cx="5049935" cy="4980039"/>
          </a:xfrm>
          <a:prstGeom prst="rect">
            <a:avLst/>
          </a:prstGeom>
        </p:spPr>
      </p:pic>
    </p:spTree>
    <p:extLst>
      <p:ext uri="{BB962C8B-B14F-4D97-AF65-F5344CB8AC3E}">
        <p14:creationId xmlns:p14="http://schemas.microsoft.com/office/powerpoint/2010/main" val="181718406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B0FD6AC-39B4-0E76-F30C-1C3A040AAF0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5ADFFC1-CAA3-78E6-C6F7-9E1CAE712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45B4C7F-B0BF-80D0-C10C-78C74D6CBBB8}"/>
              </a:ext>
            </a:extLst>
          </p:cNvPr>
          <p:cNvSpPr>
            <a:spLocks noGrp="1"/>
          </p:cNvSpPr>
          <p:nvPr>
            <p:ph type="title"/>
          </p:nvPr>
        </p:nvSpPr>
        <p:spPr>
          <a:xfrm>
            <a:off x="592731" y="415361"/>
            <a:ext cx="9692640" cy="685852"/>
          </a:xfrm>
        </p:spPr>
        <p:txBody>
          <a:bodyPr>
            <a:normAutofit/>
          </a:bodyPr>
          <a:lstStyle/>
          <a:p>
            <a:r>
              <a:rPr lang="tr-TR" sz="3600" dirty="0"/>
              <a:t>Sistemin Çalışması</a:t>
            </a:r>
          </a:p>
        </p:txBody>
      </p:sp>
      <p:sp>
        <p:nvSpPr>
          <p:cNvPr id="10" name="Rectangle 9">
            <a:extLst>
              <a:ext uri="{FF2B5EF4-FFF2-40B4-BE49-F238E27FC236}">
                <a16:creationId xmlns:a16="http://schemas.microsoft.com/office/drawing/2014/main" id="{3F3FE69B-15BE-6044-2514-3E41D3F1DC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Metin kutusu 2">
            <a:extLst>
              <a:ext uri="{FF2B5EF4-FFF2-40B4-BE49-F238E27FC236}">
                <a16:creationId xmlns:a16="http://schemas.microsoft.com/office/drawing/2014/main" id="{26F9732B-A444-CD0C-D5D5-1EE21E3853CE}"/>
              </a:ext>
            </a:extLst>
          </p:cNvPr>
          <p:cNvSpPr txBox="1"/>
          <p:nvPr/>
        </p:nvSpPr>
        <p:spPr>
          <a:xfrm>
            <a:off x="403123" y="1540081"/>
            <a:ext cx="4463845" cy="4608698"/>
          </a:xfrm>
          <a:prstGeom prst="rect">
            <a:avLst/>
          </a:prstGeom>
          <a:noFill/>
        </p:spPr>
        <p:txBody>
          <a:bodyPr wrap="square" rtlCol="0">
            <a:spAutoFit/>
          </a:bodyPr>
          <a:lstStyle/>
          <a:p>
            <a:pPr>
              <a:lnSpc>
                <a:spcPct val="150000"/>
              </a:lnSpc>
              <a:buNone/>
            </a:pPr>
            <a:r>
              <a:rPr lang="tr-TR" b="1" dirty="0">
                <a:solidFill>
                  <a:srgbClr val="FF0000"/>
                </a:solidFill>
              </a:rPr>
              <a:t>[R] – RESET </a:t>
            </a:r>
            <a:r>
              <a:rPr lang="tr-TR" b="1" dirty="0"/>
              <a:t>(Sistemi Başlangıca Döndürür)</a:t>
            </a:r>
          </a:p>
          <a:p>
            <a:pPr>
              <a:lnSpc>
                <a:spcPct val="150000"/>
              </a:lnSpc>
              <a:buNone/>
            </a:pPr>
            <a:r>
              <a:rPr lang="tr-TR" dirty="0"/>
              <a:t>Kullanıcı </a:t>
            </a:r>
            <a:r>
              <a:rPr lang="tr-TR" b="1" dirty="0"/>
              <a:t>R tuşuna bastığında:</a:t>
            </a:r>
            <a:endParaRPr lang="tr-TR" dirty="0"/>
          </a:p>
          <a:p>
            <a:pPr>
              <a:lnSpc>
                <a:spcPct val="150000"/>
              </a:lnSpc>
              <a:buFont typeface="Arial" panose="020B0604020202020204" pitchFamily="34" charset="0"/>
              <a:buChar char="•"/>
            </a:pPr>
            <a:r>
              <a:rPr lang="tr-TR" dirty="0"/>
              <a:t>Tüm sensörler varsayılan değere döner.</a:t>
            </a:r>
          </a:p>
          <a:p>
            <a:pPr>
              <a:lnSpc>
                <a:spcPct val="150000"/>
              </a:lnSpc>
              <a:buFont typeface="Arial" panose="020B0604020202020204" pitchFamily="34" charset="0"/>
              <a:buChar char="•"/>
            </a:pPr>
            <a:r>
              <a:rPr lang="tr-TR" dirty="0"/>
              <a:t>Makine, motor, alarm = </a:t>
            </a:r>
            <a:r>
              <a:rPr lang="tr-TR" b="1" dirty="0"/>
              <a:t>Kapalı</a:t>
            </a:r>
            <a:endParaRPr lang="tr-TR" dirty="0"/>
          </a:p>
          <a:p>
            <a:pPr>
              <a:lnSpc>
                <a:spcPct val="150000"/>
              </a:lnSpc>
              <a:buFont typeface="Arial" panose="020B0604020202020204" pitchFamily="34" charset="0"/>
              <a:buChar char="•"/>
            </a:pPr>
            <a:r>
              <a:rPr lang="tr-TR" dirty="0"/>
              <a:t>Döngü sayacı = 0</a:t>
            </a:r>
          </a:p>
          <a:p>
            <a:pPr>
              <a:lnSpc>
                <a:spcPct val="150000"/>
              </a:lnSpc>
              <a:buFont typeface="Arial" panose="020B0604020202020204" pitchFamily="34" charset="0"/>
              <a:buChar char="•"/>
            </a:pPr>
            <a:r>
              <a:rPr lang="tr-TR" dirty="0"/>
              <a:t>Tüm </a:t>
            </a:r>
            <a:r>
              <a:rPr lang="tr-TR" dirty="0" err="1"/>
              <a:t>ladder</a:t>
            </a:r>
            <a:r>
              <a:rPr lang="tr-TR" dirty="0"/>
              <a:t> </a:t>
            </a:r>
            <a:r>
              <a:rPr lang="tr-TR" dirty="0" err="1"/>
              <a:t>rungu</a:t>
            </a:r>
            <a:r>
              <a:rPr lang="tr-TR" dirty="0"/>
              <a:t> = </a:t>
            </a:r>
            <a:r>
              <a:rPr lang="tr-TR" b="1" dirty="0"/>
              <a:t>[PASİF]</a:t>
            </a:r>
            <a:endParaRPr lang="tr-TR" dirty="0"/>
          </a:p>
          <a:p>
            <a:pPr>
              <a:lnSpc>
                <a:spcPct val="150000"/>
              </a:lnSpc>
              <a:buFont typeface="Arial" panose="020B0604020202020204" pitchFamily="34" charset="0"/>
              <a:buChar char="•"/>
            </a:pPr>
            <a:r>
              <a:rPr lang="tr-TR" dirty="0"/>
              <a:t>Durum = KAPALI (OFF)</a:t>
            </a:r>
          </a:p>
          <a:p>
            <a:pPr>
              <a:lnSpc>
                <a:spcPct val="150000"/>
              </a:lnSpc>
              <a:buNone/>
            </a:pPr>
            <a:r>
              <a:rPr lang="tr-TR" dirty="0"/>
              <a:t>Bu, gerçek </a:t>
            </a:r>
            <a:r>
              <a:rPr lang="tr-TR" dirty="0" err="1"/>
              <a:t>PLC’deki</a:t>
            </a:r>
            <a:r>
              <a:rPr lang="tr-TR" dirty="0"/>
              <a:t> </a:t>
            </a:r>
            <a:r>
              <a:rPr lang="tr-TR" b="1" dirty="0"/>
              <a:t>soğuk başlatma (</a:t>
            </a:r>
            <a:r>
              <a:rPr lang="tr-TR" b="1" dirty="0" err="1"/>
              <a:t>cold</a:t>
            </a:r>
            <a:r>
              <a:rPr lang="tr-TR" b="1" dirty="0"/>
              <a:t> reset)</a:t>
            </a:r>
            <a:r>
              <a:rPr lang="tr-TR" dirty="0"/>
              <a:t> işleminin aynısıdır.</a:t>
            </a:r>
          </a:p>
          <a:p>
            <a:pPr>
              <a:lnSpc>
                <a:spcPct val="150000"/>
              </a:lnSpc>
            </a:pPr>
            <a:endParaRPr lang="tr-TR" dirty="0"/>
          </a:p>
        </p:txBody>
      </p:sp>
      <p:pic>
        <p:nvPicPr>
          <p:cNvPr id="9" name="Resim 8" descr="metin, ekran görüntüsü, yazılım, yazı tipi içeren bir resim&#10;&#10;Yapay zeka tarafından oluşturulmuş içerik yanlış olabilir.">
            <a:extLst>
              <a:ext uri="{FF2B5EF4-FFF2-40B4-BE49-F238E27FC236}">
                <a16:creationId xmlns:a16="http://schemas.microsoft.com/office/drawing/2014/main" id="{6A51819C-2E7E-F80F-1C7C-16B1E12BF1BB}"/>
              </a:ext>
            </a:extLst>
          </p:cNvPr>
          <p:cNvPicPr>
            <a:picLocks noChangeAspect="1"/>
          </p:cNvPicPr>
          <p:nvPr/>
        </p:nvPicPr>
        <p:blipFill>
          <a:blip r:embed="rId2"/>
          <a:stretch>
            <a:fillRect/>
          </a:stretch>
        </p:blipFill>
        <p:spPr>
          <a:xfrm>
            <a:off x="5758335" y="1516573"/>
            <a:ext cx="5118548" cy="5047703"/>
          </a:xfrm>
          <a:prstGeom prst="rect">
            <a:avLst/>
          </a:prstGeom>
        </p:spPr>
      </p:pic>
    </p:spTree>
    <p:extLst>
      <p:ext uri="{BB962C8B-B14F-4D97-AF65-F5344CB8AC3E}">
        <p14:creationId xmlns:p14="http://schemas.microsoft.com/office/powerpoint/2010/main" val="1183207915"/>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2040B09-1836-06D6-55B7-CEEB66674FC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E5F36D-CFDC-169D-3D4A-BA40346B7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89BB881-C8BB-3CBC-7E9D-EF74946D7B80}"/>
              </a:ext>
            </a:extLst>
          </p:cNvPr>
          <p:cNvSpPr>
            <a:spLocks noGrp="1"/>
          </p:cNvSpPr>
          <p:nvPr>
            <p:ph type="title"/>
          </p:nvPr>
        </p:nvSpPr>
        <p:spPr>
          <a:xfrm>
            <a:off x="592731" y="415361"/>
            <a:ext cx="9692640" cy="685852"/>
          </a:xfrm>
        </p:spPr>
        <p:txBody>
          <a:bodyPr>
            <a:normAutofit/>
          </a:bodyPr>
          <a:lstStyle/>
          <a:p>
            <a:r>
              <a:rPr lang="tr-TR" sz="3600" dirty="0"/>
              <a:t>Sistemin Çalışması</a:t>
            </a:r>
          </a:p>
        </p:txBody>
      </p:sp>
      <p:sp>
        <p:nvSpPr>
          <p:cNvPr id="10" name="Rectangle 9">
            <a:extLst>
              <a:ext uri="{FF2B5EF4-FFF2-40B4-BE49-F238E27FC236}">
                <a16:creationId xmlns:a16="http://schemas.microsoft.com/office/drawing/2014/main" id="{7EBF0086-2D38-697E-C30A-A1272996E8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Metin kutusu 2">
            <a:extLst>
              <a:ext uri="{FF2B5EF4-FFF2-40B4-BE49-F238E27FC236}">
                <a16:creationId xmlns:a16="http://schemas.microsoft.com/office/drawing/2014/main" id="{D9BAE8DF-6445-E3B0-3C5B-2A5A1EEB0602}"/>
              </a:ext>
            </a:extLst>
          </p:cNvPr>
          <p:cNvSpPr txBox="1"/>
          <p:nvPr/>
        </p:nvSpPr>
        <p:spPr>
          <a:xfrm>
            <a:off x="436010" y="1828801"/>
            <a:ext cx="5435638" cy="2738955"/>
          </a:xfrm>
          <a:prstGeom prst="rect">
            <a:avLst/>
          </a:prstGeom>
          <a:noFill/>
        </p:spPr>
        <p:txBody>
          <a:bodyPr wrap="square" rtlCol="0">
            <a:spAutoFit/>
          </a:bodyPr>
          <a:lstStyle/>
          <a:p>
            <a:pPr>
              <a:lnSpc>
                <a:spcPct val="250000"/>
              </a:lnSpc>
              <a:buNone/>
            </a:pPr>
            <a:r>
              <a:rPr lang="tr-TR" b="1" dirty="0">
                <a:solidFill>
                  <a:srgbClr val="FF0000"/>
                </a:solidFill>
              </a:rPr>
              <a:t>[Q] – QUIT </a:t>
            </a:r>
            <a:r>
              <a:rPr lang="tr-TR" b="1" dirty="0"/>
              <a:t>(Programdan Çıkar)</a:t>
            </a:r>
          </a:p>
          <a:p>
            <a:pPr>
              <a:lnSpc>
                <a:spcPct val="250000"/>
              </a:lnSpc>
              <a:buNone/>
            </a:pPr>
            <a:r>
              <a:rPr lang="tr-TR" dirty="0"/>
              <a:t>Kullanıcı </a:t>
            </a:r>
            <a:r>
              <a:rPr lang="tr-TR" b="1" dirty="0"/>
              <a:t>Q tuşuna bastığında program tamamen kapanır.</a:t>
            </a:r>
            <a:endParaRPr lang="tr-TR" dirty="0"/>
          </a:p>
          <a:p>
            <a:pPr>
              <a:lnSpc>
                <a:spcPct val="250000"/>
              </a:lnSpc>
            </a:pPr>
            <a:endParaRPr lang="tr-TR" dirty="0"/>
          </a:p>
        </p:txBody>
      </p:sp>
      <p:pic>
        <p:nvPicPr>
          <p:cNvPr id="9" name="Resim 8" descr="metin, ekran görüntüsü, yazılım, yazı tipi içeren bir resim&#10;&#10;Yapay zeka tarafından oluşturulmuş içerik yanlış olabilir.">
            <a:extLst>
              <a:ext uri="{FF2B5EF4-FFF2-40B4-BE49-F238E27FC236}">
                <a16:creationId xmlns:a16="http://schemas.microsoft.com/office/drawing/2014/main" id="{5D02CFFA-8B42-8430-0C33-F6AD17B27F54}"/>
              </a:ext>
            </a:extLst>
          </p:cNvPr>
          <p:cNvPicPr>
            <a:picLocks noChangeAspect="1"/>
          </p:cNvPicPr>
          <p:nvPr/>
        </p:nvPicPr>
        <p:blipFill>
          <a:blip r:embed="rId2"/>
          <a:stretch>
            <a:fillRect/>
          </a:stretch>
        </p:blipFill>
        <p:spPr>
          <a:xfrm>
            <a:off x="5871648" y="1302773"/>
            <a:ext cx="4894675" cy="4833371"/>
          </a:xfrm>
          <a:prstGeom prst="rect">
            <a:avLst/>
          </a:prstGeom>
        </p:spPr>
      </p:pic>
    </p:spTree>
    <p:extLst>
      <p:ext uri="{BB962C8B-B14F-4D97-AF65-F5344CB8AC3E}">
        <p14:creationId xmlns:p14="http://schemas.microsoft.com/office/powerpoint/2010/main" val="700808518"/>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4E91A20-06C6-2DC9-9C38-A1AD74D00D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E175C7C-BFAF-6C10-FEC0-136073598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B26086F-A336-5810-14FC-A61E42808BDA}"/>
              </a:ext>
            </a:extLst>
          </p:cNvPr>
          <p:cNvSpPr>
            <a:spLocks noGrp="1"/>
          </p:cNvSpPr>
          <p:nvPr>
            <p:ph type="title"/>
          </p:nvPr>
        </p:nvSpPr>
        <p:spPr>
          <a:xfrm>
            <a:off x="280220" y="347099"/>
            <a:ext cx="10717160" cy="865238"/>
          </a:xfrm>
        </p:spPr>
        <p:txBody>
          <a:bodyPr>
            <a:normAutofit/>
          </a:bodyPr>
          <a:lstStyle/>
          <a:p>
            <a:r>
              <a:rPr lang="tr-TR" sz="3600" b="1" dirty="0"/>
              <a:t>Çalışma Esnasında Ekranda Neler Değişir?</a:t>
            </a:r>
          </a:p>
        </p:txBody>
      </p:sp>
      <p:sp>
        <p:nvSpPr>
          <p:cNvPr id="10" name="Rectangle 9">
            <a:extLst>
              <a:ext uri="{FF2B5EF4-FFF2-40B4-BE49-F238E27FC236}">
                <a16:creationId xmlns:a16="http://schemas.microsoft.com/office/drawing/2014/main" id="{FE0FDDB2-D61E-28F3-3F9C-CC6787F9CA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7" name="İçerik Yer Tutucusu 6">
            <a:extLst>
              <a:ext uri="{FF2B5EF4-FFF2-40B4-BE49-F238E27FC236}">
                <a16:creationId xmlns:a16="http://schemas.microsoft.com/office/drawing/2014/main" id="{D9DD172D-410C-76DD-57D5-42138E25C1C8}"/>
              </a:ext>
            </a:extLst>
          </p:cNvPr>
          <p:cNvSpPr>
            <a:spLocks noGrp="1"/>
          </p:cNvSpPr>
          <p:nvPr>
            <p:ph idx="1"/>
          </p:nvPr>
        </p:nvSpPr>
        <p:spPr>
          <a:xfrm>
            <a:off x="146206" y="1703387"/>
            <a:ext cx="10985189" cy="4663563"/>
          </a:xfrm>
        </p:spPr>
        <p:txBody>
          <a:bodyPr>
            <a:noAutofit/>
          </a:bodyPr>
          <a:lstStyle/>
          <a:p>
            <a:pPr>
              <a:buNone/>
            </a:pPr>
            <a:r>
              <a:rPr lang="tr-TR" dirty="0"/>
              <a:t>Start sonrası her döngüde:</a:t>
            </a:r>
          </a:p>
          <a:p>
            <a:pPr>
              <a:buNone/>
            </a:pPr>
            <a:r>
              <a:rPr lang="tr-TR" b="1" dirty="0"/>
              <a:t> </a:t>
            </a:r>
            <a:r>
              <a:rPr lang="tr-TR" b="1" dirty="0">
                <a:solidFill>
                  <a:srgbClr val="FF0000"/>
                </a:solidFill>
              </a:rPr>
              <a:t>Sensör Değerleri Otomatik Güncellenir</a:t>
            </a:r>
          </a:p>
          <a:p>
            <a:pPr>
              <a:buFont typeface="Arial" panose="020B0604020202020204" pitchFamily="34" charset="0"/>
              <a:buChar char="•"/>
            </a:pPr>
            <a:r>
              <a:rPr lang="tr-TR" dirty="0"/>
              <a:t>Sıcaklık yavaşça artabilir veya düşebilir.</a:t>
            </a:r>
          </a:p>
          <a:p>
            <a:pPr>
              <a:buFont typeface="Arial" panose="020B0604020202020204" pitchFamily="34" charset="0"/>
              <a:buChar char="•"/>
            </a:pPr>
            <a:r>
              <a:rPr lang="tr-TR" dirty="0"/>
              <a:t>Basınç değişebilir.</a:t>
            </a:r>
          </a:p>
          <a:p>
            <a:pPr>
              <a:buFont typeface="Arial" panose="020B0604020202020204" pitchFamily="34" charset="0"/>
              <a:buChar char="•"/>
            </a:pPr>
            <a:r>
              <a:rPr lang="tr-TR" dirty="0"/>
              <a:t>Hammadde tüketilebilir.</a:t>
            </a:r>
          </a:p>
          <a:p>
            <a:pPr>
              <a:buFont typeface="Arial" panose="020B0604020202020204" pitchFamily="34" charset="0"/>
              <a:buChar char="•"/>
            </a:pPr>
            <a:r>
              <a:rPr lang="tr-TR" dirty="0"/>
              <a:t>İşçi sensörü aktif/pasif olabilir.</a:t>
            </a:r>
          </a:p>
          <a:p>
            <a:pPr>
              <a:buNone/>
            </a:pPr>
            <a:r>
              <a:rPr lang="tr-TR" b="1" dirty="0" err="1">
                <a:solidFill>
                  <a:srgbClr val="FF0000"/>
                </a:solidFill>
              </a:rPr>
              <a:t>Ladder</a:t>
            </a:r>
            <a:r>
              <a:rPr lang="tr-TR" b="1" dirty="0">
                <a:solidFill>
                  <a:srgbClr val="FF0000"/>
                </a:solidFill>
              </a:rPr>
              <a:t> Koşulları Anlık Değişir</a:t>
            </a:r>
          </a:p>
          <a:p>
            <a:pPr>
              <a:lnSpc>
                <a:spcPct val="150000"/>
              </a:lnSpc>
              <a:buNone/>
            </a:pPr>
            <a:r>
              <a:rPr lang="tr-TR" dirty="0"/>
              <a:t>Her </a:t>
            </a:r>
            <a:r>
              <a:rPr lang="tr-TR" dirty="0" err="1"/>
              <a:t>rung</a:t>
            </a:r>
            <a:r>
              <a:rPr lang="tr-TR" dirty="0"/>
              <a:t> yanındaki </a:t>
            </a:r>
            <a:r>
              <a:rPr lang="tr-TR" b="1" dirty="0"/>
              <a:t>[AKTİF] / [PASİF]</a:t>
            </a:r>
            <a:r>
              <a:rPr lang="tr-TR" dirty="0"/>
              <a:t> uyarısı gerçek zamanlı güncellenir.</a:t>
            </a:r>
            <a:br>
              <a:rPr lang="tr-TR" dirty="0"/>
            </a:br>
            <a:r>
              <a:rPr lang="tr-TR" dirty="0"/>
              <a:t>Bu, bir PLC </a:t>
            </a:r>
            <a:r>
              <a:rPr lang="tr-TR" dirty="0" err="1"/>
              <a:t>debug</a:t>
            </a:r>
            <a:r>
              <a:rPr lang="tr-TR" dirty="0"/>
              <a:t> ekranının bire bir karşılığıdır.</a:t>
            </a:r>
          </a:p>
          <a:p>
            <a:endParaRPr lang="tr-TR" dirty="0"/>
          </a:p>
        </p:txBody>
      </p:sp>
    </p:spTree>
    <p:extLst>
      <p:ext uri="{BB962C8B-B14F-4D97-AF65-F5344CB8AC3E}">
        <p14:creationId xmlns:p14="http://schemas.microsoft.com/office/powerpoint/2010/main" val="2875004585"/>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1762B5A-8511-B57A-2E20-C8AEEB7BCB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FC29DDF-D583-CE7D-6FC7-44EBE4527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B471F86-8A79-8EE9-CF8F-EBCBDA1F31D4}"/>
              </a:ext>
            </a:extLst>
          </p:cNvPr>
          <p:cNvSpPr>
            <a:spLocks noGrp="1"/>
          </p:cNvSpPr>
          <p:nvPr>
            <p:ph type="title"/>
          </p:nvPr>
        </p:nvSpPr>
        <p:spPr>
          <a:xfrm>
            <a:off x="280220" y="419075"/>
            <a:ext cx="10259961" cy="865238"/>
          </a:xfrm>
        </p:spPr>
        <p:txBody>
          <a:bodyPr>
            <a:normAutofit/>
          </a:bodyPr>
          <a:lstStyle/>
          <a:p>
            <a:pPr algn="ctr"/>
            <a:r>
              <a:rPr lang="tr-TR" sz="3600" b="1" dirty="0"/>
              <a:t>Çalışma Esnasında Ekranda Neler Değişir?</a:t>
            </a:r>
          </a:p>
        </p:txBody>
      </p:sp>
      <p:sp>
        <p:nvSpPr>
          <p:cNvPr id="10" name="Rectangle 9">
            <a:extLst>
              <a:ext uri="{FF2B5EF4-FFF2-40B4-BE49-F238E27FC236}">
                <a16:creationId xmlns:a16="http://schemas.microsoft.com/office/drawing/2014/main" id="{B9D83CDA-82E4-2545-060A-686EB6FE8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7" name="İçerik Yer Tutucusu 6">
            <a:extLst>
              <a:ext uri="{FF2B5EF4-FFF2-40B4-BE49-F238E27FC236}">
                <a16:creationId xmlns:a16="http://schemas.microsoft.com/office/drawing/2014/main" id="{C1C6D361-32C0-8C42-D7CC-F15BCD396EC2}"/>
              </a:ext>
            </a:extLst>
          </p:cNvPr>
          <p:cNvSpPr>
            <a:spLocks noGrp="1"/>
          </p:cNvSpPr>
          <p:nvPr>
            <p:ph idx="1"/>
          </p:nvPr>
        </p:nvSpPr>
        <p:spPr>
          <a:xfrm>
            <a:off x="280220" y="1703387"/>
            <a:ext cx="10880671" cy="4663563"/>
          </a:xfrm>
        </p:spPr>
        <p:txBody>
          <a:bodyPr>
            <a:noAutofit/>
          </a:bodyPr>
          <a:lstStyle/>
          <a:p>
            <a:pPr>
              <a:buNone/>
            </a:pPr>
            <a:r>
              <a:rPr lang="tr-TR" b="1" dirty="0">
                <a:solidFill>
                  <a:srgbClr val="FF0000"/>
                </a:solidFill>
              </a:rPr>
              <a:t>Aktüatörler Mantığa Göre Çalışır</a:t>
            </a:r>
          </a:p>
          <a:p>
            <a:pPr>
              <a:buNone/>
            </a:pPr>
            <a:r>
              <a:rPr lang="tr-TR" dirty="0"/>
              <a:t>Örnek:</a:t>
            </a:r>
          </a:p>
          <a:p>
            <a:pPr>
              <a:buFont typeface="Arial" panose="020B0604020202020204" pitchFamily="34" charset="0"/>
              <a:buChar char="•"/>
            </a:pPr>
            <a:r>
              <a:rPr lang="tr-TR" dirty="0"/>
              <a:t>“Hammadde ≥ 5 ve İşçi VAR” → Makine = AÇIK</a:t>
            </a:r>
          </a:p>
          <a:p>
            <a:pPr>
              <a:buFont typeface="Arial" panose="020B0604020202020204" pitchFamily="34" charset="0"/>
              <a:buChar char="•"/>
            </a:pPr>
            <a:r>
              <a:rPr lang="tr-TR" dirty="0"/>
              <a:t>“Basınç &lt; 700” → Makine = DURDURULDU</a:t>
            </a:r>
          </a:p>
          <a:p>
            <a:pPr>
              <a:buFont typeface="Arial" panose="020B0604020202020204" pitchFamily="34" charset="0"/>
              <a:buChar char="•"/>
            </a:pPr>
            <a:r>
              <a:rPr lang="tr-TR" dirty="0"/>
              <a:t>“Sıcaklık &gt; 35°C” → Alarm AÇIK</a:t>
            </a:r>
          </a:p>
          <a:p>
            <a:pPr>
              <a:buNone/>
            </a:pPr>
            <a:r>
              <a:rPr lang="tr-TR" b="1" dirty="0">
                <a:solidFill>
                  <a:srgbClr val="FF0000"/>
                </a:solidFill>
              </a:rPr>
              <a:t>PID Motor </a:t>
            </a:r>
            <a:r>
              <a:rPr lang="tr-TR" b="1" dirty="0" err="1">
                <a:solidFill>
                  <a:srgbClr val="FF0000"/>
                </a:solidFill>
              </a:rPr>
              <a:t>PWM’ini</a:t>
            </a:r>
            <a:r>
              <a:rPr lang="tr-TR" b="1" dirty="0">
                <a:solidFill>
                  <a:srgbClr val="FF0000"/>
                </a:solidFill>
              </a:rPr>
              <a:t> Ayarlar</a:t>
            </a:r>
          </a:p>
          <a:p>
            <a:pPr>
              <a:buNone/>
            </a:pPr>
            <a:r>
              <a:rPr lang="tr-TR" dirty="0"/>
              <a:t>Sıcaklık hedef değerden uzaklaştıkça:</a:t>
            </a:r>
          </a:p>
          <a:p>
            <a:pPr>
              <a:buFont typeface="Arial" panose="020B0604020202020204" pitchFamily="34" charset="0"/>
              <a:buChar char="•"/>
            </a:pPr>
            <a:r>
              <a:rPr lang="tr-TR" dirty="0"/>
              <a:t>Hata artarsa → PWM yükselir</a:t>
            </a:r>
          </a:p>
          <a:p>
            <a:pPr>
              <a:buFont typeface="Arial" panose="020B0604020202020204" pitchFamily="34" charset="0"/>
              <a:buChar char="•"/>
            </a:pPr>
            <a:r>
              <a:rPr lang="tr-TR" dirty="0"/>
              <a:t>Hata azalırsa → PWM düşer</a:t>
            </a:r>
          </a:p>
          <a:p>
            <a:endParaRPr lang="tr-TR" dirty="0"/>
          </a:p>
        </p:txBody>
      </p:sp>
    </p:spTree>
    <p:extLst>
      <p:ext uri="{BB962C8B-B14F-4D97-AF65-F5344CB8AC3E}">
        <p14:creationId xmlns:p14="http://schemas.microsoft.com/office/powerpoint/2010/main" val="961868847"/>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B895102-7E95-2C0B-1D3B-6DDB6403CF4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A17FD95-0908-360E-2525-EA4B89979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EC27C42-9809-C59C-5772-BA3F2730261E}"/>
              </a:ext>
            </a:extLst>
          </p:cNvPr>
          <p:cNvSpPr>
            <a:spLocks noGrp="1"/>
          </p:cNvSpPr>
          <p:nvPr>
            <p:ph type="title"/>
          </p:nvPr>
        </p:nvSpPr>
        <p:spPr>
          <a:xfrm>
            <a:off x="592731" y="415361"/>
            <a:ext cx="9692640" cy="685852"/>
          </a:xfrm>
        </p:spPr>
        <p:txBody>
          <a:bodyPr>
            <a:normAutofit/>
          </a:bodyPr>
          <a:lstStyle/>
          <a:p>
            <a:r>
              <a:rPr lang="tr-TR" sz="3600" dirty="0"/>
              <a:t>Kullanıcı Programı Nasıl Kullanır?</a:t>
            </a:r>
          </a:p>
        </p:txBody>
      </p:sp>
      <p:sp>
        <p:nvSpPr>
          <p:cNvPr id="10" name="Rectangle 9">
            <a:extLst>
              <a:ext uri="{FF2B5EF4-FFF2-40B4-BE49-F238E27FC236}">
                <a16:creationId xmlns:a16="http://schemas.microsoft.com/office/drawing/2014/main" id="{90928992-7617-5D42-A51B-870AC24307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Metin kutusu 2">
            <a:extLst>
              <a:ext uri="{FF2B5EF4-FFF2-40B4-BE49-F238E27FC236}">
                <a16:creationId xmlns:a16="http://schemas.microsoft.com/office/drawing/2014/main" id="{DB49FAE6-A9BB-00B8-E9A1-01A6DC3F16BC}"/>
              </a:ext>
            </a:extLst>
          </p:cNvPr>
          <p:cNvSpPr txBox="1"/>
          <p:nvPr/>
        </p:nvSpPr>
        <p:spPr>
          <a:xfrm>
            <a:off x="436010" y="1590982"/>
            <a:ext cx="5435638" cy="5024196"/>
          </a:xfrm>
          <a:prstGeom prst="rect">
            <a:avLst/>
          </a:prstGeom>
          <a:noFill/>
        </p:spPr>
        <p:txBody>
          <a:bodyPr wrap="square" rtlCol="0">
            <a:spAutoFit/>
          </a:bodyPr>
          <a:lstStyle/>
          <a:p>
            <a:pPr>
              <a:lnSpc>
                <a:spcPct val="150000"/>
              </a:lnSpc>
            </a:pPr>
            <a:r>
              <a:rPr lang="tr-TR" b="1" dirty="0">
                <a:solidFill>
                  <a:srgbClr val="FF0000"/>
                </a:solidFill>
              </a:rPr>
              <a:t>S</a:t>
            </a:r>
            <a:r>
              <a:rPr lang="tr-TR" dirty="0"/>
              <a:t> → Sistemi başlatır, üretim süreci başlar.</a:t>
            </a:r>
          </a:p>
          <a:p>
            <a:pPr>
              <a:lnSpc>
                <a:spcPct val="150000"/>
              </a:lnSpc>
            </a:pPr>
            <a:r>
              <a:rPr lang="tr-TR" b="1" dirty="0">
                <a:solidFill>
                  <a:srgbClr val="FF0000"/>
                </a:solidFill>
              </a:rPr>
              <a:t>P</a:t>
            </a:r>
            <a:r>
              <a:rPr lang="tr-TR" dirty="0"/>
              <a:t> → Üretimi duraklatır.</a:t>
            </a:r>
          </a:p>
          <a:p>
            <a:pPr>
              <a:lnSpc>
                <a:spcPct val="150000"/>
              </a:lnSpc>
            </a:pPr>
            <a:r>
              <a:rPr lang="tr-TR" b="1" dirty="0">
                <a:solidFill>
                  <a:srgbClr val="FF0000"/>
                </a:solidFill>
              </a:rPr>
              <a:t>R</a:t>
            </a:r>
            <a:r>
              <a:rPr lang="tr-TR" dirty="0"/>
              <a:t> → Her şeyi sıfırlar, yeniden başlatmak için hazır hale getirir.</a:t>
            </a:r>
          </a:p>
          <a:p>
            <a:pPr>
              <a:lnSpc>
                <a:spcPct val="150000"/>
              </a:lnSpc>
            </a:pPr>
            <a:r>
              <a:rPr lang="tr-TR" b="1" dirty="0">
                <a:solidFill>
                  <a:srgbClr val="FF0000"/>
                </a:solidFill>
              </a:rPr>
              <a:t>Q</a:t>
            </a:r>
            <a:r>
              <a:rPr lang="tr-TR" dirty="0"/>
              <a:t> → Programı kapatır.</a:t>
            </a:r>
          </a:p>
          <a:p>
            <a:pPr>
              <a:lnSpc>
                <a:spcPct val="150000"/>
              </a:lnSpc>
            </a:pPr>
            <a:r>
              <a:rPr lang="tr-TR" b="1" dirty="0">
                <a:solidFill>
                  <a:srgbClr val="FF0000"/>
                </a:solidFill>
              </a:rPr>
              <a:t>Ekranda ise:</a:t>
            </a:r>
          </a:p>
          <a:p>
            <a:pPr>
              <a:lnSpc>
                <a:spcPct val="150000"/>
              </a:lnSpc>
            </a:pPr>
            <a:r>
              <a:rPr lang="tr-TR" dirty="0"/>
              <a:t>Sensörler girişleri temsil eder,</a:t>
            </a:r>
          </a:p>
          <a:p>
            <a:pPr>
              <a:lnSpc>
                <a:spcPct val="150000"/>
              </a:lnSpc>
            </a:pPr>
            <a:r>
              <a:rPr lang="tr-TR" dirty="0"/>
              <a:t>Aktüatörler çıkışları temsil eder,</a:t>
            </a:r>
          </a:p>
          <a:p>
            <a:pPr>
              <a:lnSpc>
                <a:spcPct val="150000"/>
              </a:lnSpc>
            </a:pPr>
            <a:r>
              <a:rPr lang="tr-TR" dirty="0"/>
              <a:t>PID otomatik kontrolü gösterir,</a:t>
            </a:r>
          </a:p>
          <a:p>
            <a:pPr>
              <a:lnSpc>
                <a:spcPct val="150000"/>
              </a:lnSpc>
            </a:pPr>
            <a:r>
              <a:rPr lang="tr-TR" dirty="0" err="1"/>
              <a:t>Ladder</a:t>
            </a:r>
            <a:r>
              <a:rPr lang="tr-TR" dirty="0"/>
              <a:t> </a:t>
            </a:r>
            <a:r>
              <a:rPr lang="tr-TR" dirty="0" err="1"/>
              <a:t>Logic</a:t>
            </a:r>
            <a:r>
              <a:rPr lang="tr-TR" dirty="0"/>
              <a:t> işletim mantığını gösterir.</a:t>
            </a:r>
          </a:p>
          <a:p>
            <a:pPr>
              <a:lnSpc>
                <a:spcPct val="150000"/>
              </a:lnSpc>
            </a:pPr>
            <a:r>
              <a:rPr lang="tr-TR" dirty="0"/>
              <a:t>Bu sayede kullanıcı hem süreci izler hem de manuel kontrol edebilir.</a:t>
            </a:r>
          </a:p>
        </p:txBody>
      </p:sp>
      <p:pic>
        <p:nvPicPr>
          <p:cNvPr id="9" name="Resim 8" descr="metin, ekran görüntüsü, yazılım, yazı tipi içeren bir resim&#10;&#10;Yapay zeka tarafından oluşturulmuş içerik yanlış olabilir.">
            <a:extLst>
              <a:ext uri="{FF2B5EF4-FFF2-40B4-BE49-F238E27FC236}">
                <a16:creationId xmlns:a16="http://schemas.microsoft.com/office/drawing/2014/main" id="{45766001-EB06-2AC1-4BC9-933D3AE40034}"/>
              </a:ext>
            </a:extLst>
          </p:cNvPr>
          <p:cNvPicPr>
            <a:picLocks noChangeAspect="1"/>
          </p:cNvPicPr>
          <p:nvPr/>
        </p:nvPicPr>
        <p:blipFill>
          <a:blip r:embed="rId2"/>
          <a:stretch>
            <a:fillRect/>
          </a:stretch>
        </p:blipFill>
        <p:spPr>
          <a:xfrm>
            <a:off x="5871648" y="1613292"/>
            <a:ext cx="5049465" cy="4979576"/>
          </a:xfrm>
          <a:prstGeom prst="rect">
            <a:avLst/>
          </a:prstGeom>
        </p:spPr>
      </p:pic>
    </p:spTree>
    <p:extLst>
      <p:ext uri="{BB962C8B-B14F-4D97-AF65-F5344CB8AC3E}">
        <p14:creationId xmlns:p14="http://schemas.microsoft.com/office/powerpoint/2010/main" val="1324992852"/>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04EAB7E-99A5-2C22-ADBE-43F472B7199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6655FB8-3C30-53E1-897B-550D40C0E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05837B4-5565-CDB9-4A8C-E703E1FD92DD}"/>
              </a:ext>
            </a:extLst>
          </p:cNvPr>
          <p:cNvSpPr>
            <a:spLocks noGrp="1"/>
          </p:cNvSpPr>
          <p:nvPr>
            <p:ph type="title"/>
          </p:nvPr>
        </p:nvSpPr>
        <p:spPr>
          <a:xfrm>
            <a:off x="2182761" y="347099"/>
            <a:ext cx="6784258" cy="865238"/>
          </a:xfrm>
        </p:spPr>
        <p:txBody>
          <a:bodyPr>
            <a:normAutofit/>
          </a:bodyPr>
          <a:lstStyle/>
          <a:p>
            <a:r>
              <a:rPr lang="tr-TR" sz="3600" dirty="0"/>
              <a:t>Mimari Olarak Ne Modellendi?</a:t>
            </a:r>
            <a:endParaRPr lang="tr-TR" sz="3600" b="1" dirty="0"/>
          </a:p>
        </p:txBody>
      </p:sp>
      <p:sp>
        <p:nvSpPr>
          <p:cNvPr id="10" name="Rectangle 9">
            <a:extLst>
              <a:ext uri="{FF2B5EF4-FFF2-40B4-BE49-F238E27FC236}">
                <a16:creationId xmlns:a16="http://schemas.microsoft.com/office/drawing/2014/main" id="{94A7B663-A4F3-F473-7649-FA63EBE47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7" name="İçerik Yer Tutucusu 6">
            <a:extLst>
              <a:ext uri="{FF2B5EF4-FFF2-40B4-BE49-F238E27FC236}">
                <a16:creationId xmlns:a16="http://schemas.microsoft.com/office/drawing/2014/main" id="{C05E0415-A779-AC17-F115-5D3BC43E549C}"/>
              </a:ext>
            </a:extLst>
          </p:cNvPr>
          <p:cNvSpPr>
            <a:spLocks noGrp="1"/>
          </p:cNvSpPr>
          <p:nvPr>
            <p:ph idx="1"/>
          </p:nvPr>
        </p:nvSpPr>
        <p:spPr>
          <a:xfrm>
            <a:off x="471948" y="1703387"/>
            <a:ext cx="10659447" cy="4663563"/>
          </a:xfrm>
        </p:spPr>
        <p:txBody>
          <a:bodyPr>
            <a:noAutofit/>
          </a:bodyPr>
          <a:lstStyle/>
          <a:p>
            <a:pPr>
              <a:buNone/>
            </a:pPr>
            <a:r>
              <a:rPr lang="tr-TR" sz="2000" dirty="0">
                <a:solidFill>
                  <a:srgbClr val="FF0000"/>
                </a:solidFill>
              </a:rPr>
              <a:t>Bu proje, bir </a:t>
            </a:r>
            <a:r>
              <a:rPr lang="tr-TR" sz="2000" dirty="0" err="1">
                <a:solidFill>
                  <a:srgbClr val="FF0000"/>
                </a:solidFill>
              </a:rPr>
              <a:t>PLC’nin</a:t>
            </a:r>
            <a:r>
              <a:rPr lang="tr-TR" sz="2000" dirty="0">
                <a:solidFill>
                  <a:srgbClr val="FF0000"/>
                </a:solidFill>
              </a:rPr>
              <a:t> tüm önemli işlevlerini modellemektedir:</a:t>
            </a:r>
          </a:p>
          <a:p>
            <a:pPr>
              <a:buFont typeface="Arial" panose="020B0604020202020204" pitchFamily="34" charset="0"/>
              <a:buChar char="•"/>
            </a:pPr>
            <a:r>
              <a:rPr lang="tr-TR" sz="2000" dirty="0"/>
              <a:t>Sensör girişleri</a:t>
            </a:r>
          </a:p>
          <a:p>
            <a:pPr>
              <a:buFont typeface="Arial" panose="020B0604020202020204" pitchFamily="34" charset="0"/>
              <a:buChar char="•"/>
            </a:pPr>
            <a:r>
              <a:rPr lang="tr-TR" sz="2000" dirty="0" err="1"/>
              <a:t>Input</a:t>
            </a:r>
            <a:r>
              <a:rPr lang="tr-TR" sz="2000" dirty="0"/>
              <a:t> Memory</a:t>
            </a:r>
          </a:p>
          <a:p>
            <a:pPr>
              <a:buFont typeface="Arial" panose="020B0604020202020204" pitchFamily="34" charset="0"/>
              <a:buChar char="•"/>
            </a:pPr>
            <a:r>
              <a:rPr lang="tr-TR" sz="2000" dirty="0" err="1"/>
              <a:t>Ladder</a:t>
            </a:r>
            <a:r>
              <a:rPr lang="tr-TR" sz="2000" dirty="0"/>
              <a:t> </a:t>
            </a:r>
            <a:r>
              <a:rPr lang="tr-TR" sz="2000" dirty="0" err="1"/>
              <a:t>Logic</a:t>
            </a:r>
            <a:endParaRPr lang="tr-TR" sz="2000" dirty="0"/>
          </a:p>
          <a:p>
            <a:pPr>
              <a:buFont typeface="Arial" panose="020B0604020202020204" pitchFamily="34" charset="0"/>
              <a:buChar char="•"/>
            </a:pPr>
            <a:r>
              <a:rPr lang="tr-TR" sz="2000" dirty="0"/>
              <a:t>CPU tarama döngüsü</a:t>
            </a:r>
          </a:p>
          <a:p>
            <a:pPr>
              <a:buFont typeface="Arial" panose="020B0604020202020204" pitchFamily="34" charset="0"/>
              <a:buChar char="•"/>
            </a:pPr>
            <a:r>
              <a:rPr lang="tr-TR" sz="2000" dirty="0"/>
              <a:t>PID kontrol</a:t>
            </a:r>
          </a:p>
          <a:p>
            <a:pPr>
              <a:buFont typeface="Arial" panose="020B0604020202020204" pitchFamily="34" charset="0"/>
              <a:buChar char="•"/>
            </a:pPr>
            <a:r>
              <a:rPr lang="tr-TR" sz="2000" dirty="0" err="1"/>
              <a:t>Output</a:t>
            </a:r>
            <a:r>
              <a:rPr lang="tr-TR" sz="2000" dirty="0"/>
              <a:t> Memory</a:t>
            </a:r>
          </a:p>
          <a:p>
            <a:pPr>
              <a:buFont typeface="Arial" panose="020B0604020202020204" pitchFamily="34" charset="0"/>
              <a:buChar char="•"/>
            </a:pPr>
            <a:r>
              <a:rPr lang="tr-TR" sz="2000" dirty="0"/>
              <a:t>Aktüatör çıkışları</a:t>
            </a:r>
          </a:p>
          <a:p>
            <a:pPr>
              <a:buFont typeface="Arial" panose="020B0604020202020204" pitchFamily="34" charset="0"/>
              <a:buChar char="•"/>
            </a:pPr>
            <a:r>
              <a:rPr lang="tr-TR" sz="2000" dirty="0"/>
              <a:t>HMI iletişimi</a:t>
            </a:r>
          </a:p>
          <a:p>
            <a:pPr>
              <a:buNone/>
            </a:pPr>
            <a:r>
              <a:rPr lang="tr-TR" dirty="0"/>
              <a:t>Bu yapı bir fabrikadaki otomasyonun </a:t>
            </a:r>
            <a:r>
              <a:rPr lang="tr-TR" b="1" dirty="0"/>
              <a:t>birebir yazılımsal karşılığıdır</a:t>
            </a:r>
            <a:r>
              <a:rPr lang="tr-TR" dirty="0"/>
              <a:t>.</a:t>
            </a:r>
          </a:p>
        </p:txBody>
      </p:sp>
    </p:spTree>
    <p:extLst>
      <p:ext uri="{BB962C8B-B14F-4D97-AF65-F5344CB8AC3E}">
        <p14:creationId xmlns:p14="http://schemas.microsoft.com/office/powerpoint/2010/main" val="3664168543"/>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9708052-9896-0D73-C7EB-2AF1000770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E4CA642-5952-872F-4C5F-368010D98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93DB7E0-C0E4-357B-13D2-A66C9895A758}"/>
              </a:ext>
            </a:extLst>
          </p:cNvPr>
          <p:cNvSpPr>
            <a:spLocks noGrp="1"/>
          </p:cNvSpPr>
          <p:nvPr>
            <p:ph type="title"/>
          </p:nvPr>
        </p:nvSpPr>
        <p:spPr>
          <a:xfrm>
            <a:off x="280220" y="347099"/>
            <a:ext cx="10717160" cy="865238"/>
          </a:xfrm>
        </p:spPr>
        <p:txBody>
          <a:bodyPr>
            <a:normAutofit/>
          </a:bodyPr>
          <a:lstStyle/>
          <a:p>
            <a:r>
              <a:rPr lang="tr-TR" sz="3600" dirty="0"/>
              <a:t>Projenin Sağladığı Teknik Kazanımlar</a:t>
            </a:r>
            <a:endParaRPr lang="tr-TR" sz="3600" b="1" dirty="0"/>
          </a:p>
        </p:txBody>
      </p:sp>
      <p:sp>
        <p:nvSpPr>
          <p:cNvPr id="10" name="Rectangle 9">
            <a:extLst>
              <a:ext uri="{FF2B5EF4-FFF2-40B4-BE49-F238E27FC236}">
                <a16:creationId xmlns:a16="http://schemas.microsoft.com/office/drawing/2014/main" id="{61FF4934-462C-892F-3ECD-BCFCA8816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7" name="İçerik Yer Tutucusu 6">
            <a:extLst>
              <a:ext uri="{FF2B5EF4-FFF2-40B4-BE49-F238E27FC236}">
                <a16:creationId xmlns:a16="http://schemas.microsoft.com/office/drawing/2014/main" id="{70AD453D-22D0-F746-8523-4C13BD6E41DF}"/>
              </a:ext>
            </a:extLst>
          </p:cNvPr>
          <p:cNvSpPr>
            <a:spLocks noGrp="1"/>
          </p:cNvSpPr>
          <p:nvPr>
            <p:ph idx="1"/>
          </p:nvPr>
        </p:nvSpPr>
        <p:spPr>
          <a:xfrm>
            <a:off x="146206" y="1703387"/>
            <a:ext cx="10985189" cy="4663563"/>
          </a:xfrm>
        </p:spPr>
        <p:txBody>
          <a:bodyPr>
            <a:noAutofit/>
          </a:bodyPr>
          <a:lstStyle/>
          <a:p>
            <a:pPr>
              <a:buNone/>
            </a:pPr>
            <a:r>
              <a:rPr lang="tr-TR" b="1" dirty="0">
                <a:solidFill>
                  <a:srgbClr val="FF0000"/>
                </a:solidFill>
              </a:rPr>
              <a:t>Bu proje ile:</a:t>
            </a:r>
          </a:p>
          <a:p>
            <a:pPr>
              <a:buNone/>
            </a:pPr>
            <a:r>
              <a:rPr lang="tr-TR" dirty="0"/>
              <a:t>Sensör girişleri (</a:t>
            </a:r>
            <a:r>
              <a:rPr lang="tr-TR" dirty="0" err="1"/>
              <a:t>Polling</a:t>
            </a:r>
            <a:r>
              <a:rPr lang="tr-TR" dirty="0"/>
              <a:t> / Yoklama Yöntemi)</a:t>
            </a:r>
          </a:p>
          <a:p>
            <a:pPr>
              <a:buNone/>
            </a:pPr>
            <a:r>
              <a:rPr lang="en-US" dirty="0"/>
              <a:t>Input Memory (Memory Mapped I/O)</a:t>
            </a:r>
            <a:endParaRPr lang="tr-TR" dirty="0"/>
          </a:p>
          <a:p>
            <a:pPr>
              <a:buNone/>
            </a:pPr>
            <a:r>
              <a:rPr lang="tr-TR" dirty="0" err="1"/>
              <a:t>Ladder</a:t>
            </a:r>
            <a:r>
              <a:rPr lang="tr-TR" dirty="0"/>
              <a:t> </a:t>
            </a:r>
            <a:r>
              <a:rPr lang="tr-TR" dirty="0" err="1"/>
              <a:t>Logic</a:t>
            </a:r>
            <a:r>
              <a:rPr lang="tr-TR" dirty="0"/>
              <a:t> ve </a:t>
            </a:r>
            <a:r>
              <a:rPr lang="tr-TR" dirty="0" err="1"/>
              <a:t>State</a:t>
            </a:r>
            <a:r>
              <a:rPr lang="tr-TR" dirty="0"/>
              <a:t> Machine (Durum Makinesi)</a:t>
            </a:r>
          </a:p>
          <a:p>
            <a:pPr>
              <a:buNone/>
            </a:pPr>
            <a:r>
              <a:rPr lang="tr-TR" dirty="0"/>
              <a:t>CPU tarama döngüsü (Real-Time / Gerçek Zamanlı)</a:t>
            </a:r>
          </a:p>
          <a:p>
            <a:pPr>
              <a:buNone/>
            </a:pPr>
            <a:r>
              <a:rPr lang="tr-TR" dirty="0"/>
              <a:t>PID kontrol (ALU İşlemleri)</a:t>
            </a:r>
          </a:p>
          <a:p>
            <a:pPr>
              <a:buNone/>
            </a:pPr>
            <a:r>
              <a:rPr lang="tr-TR" dirty="0" err="1"/>
              <a:t>Von</a:t>
            </a:r>
            <a:r>
              <a:rPr lang="tr-TR" dirty="0"/>
              <a:t> Neumann Mimarisi</a:t>
            </a:r>
          </a:p>
          <a:p>
            <a:pPr>
              <a:buNone/>
            </a:pPr>
            <a:r>
              <a:rPr lang="tr-TR" dirty="0" err="1"/>
              <a:t>Fetch-Decode-Execute</a:t>
            </a:r>
            <a:r>
              <a:rPr lang="tr-TR" dirty="0"/>
              <a:t> (Getir-Çöz-Çalıştır) Döngüsü</a:t>
            </a:r>
          </a:p>
          <a:p>
            <a:pPr>
              <a:buNone/>
            </a:pPr>
            <a:r>
              <a:rPr lang="tr-TR" dirty="0" err="1"/>
              <a:t>System</a:t>
            </a:r>
            <a:r>
              <a:rPr lang="tr-TR" dirty="0"/>
              <a:t> </a:t>
            </a:r>
            <a:r>
              <a:rPr lang="tr-TR" dirty="0" err="1"/>
              <a:t>Clock</a:t>
            </a:r>
            <a:r>
              <a:rPr lang="tr-TR" dirty="0"/>
              <a:t> (Sistem Saati):</a:t>
            </a:r>
          </a:p>
          <a:p>
            <a:pPr>
              <a:buNone/>
            </a:pPr>
            <a:r>
              <a:rPr lang="tr-TR" dirty="0"/>
              <a:t>gibi konuları uygulamalı olarak öğrendim ve modelledim.</a:t>
            </a:r>
            <a:endParaRPr lang="tr-TR" b="1" dirty="0"/>
          </a:p>
          <a:p>
            <a:pPr>
              <a:buNone/>
            </a:pPr>
            <a:endParaRPr lang="tr-TR" dirty="0"/>
          </a:p>
          <a:p>
            <a:pPr>
              <a:buNone/>
            </a:pPr>
            <a:endParaRPr lang="tr-TR" dirty="0"/>
          </a:p>
          <a:p>
            <a:pPr>
              <a:buNone/>
            </a:pPr>
            <a:endParaRPr lang="tr-TR" dirty="0"/>
          </a:p>
          <a:p>
            <a:pPr>
              <a:buNone/>
            </a:pPr>
            <a:endParaRPr lang="tr-TR" dirty="0"/>
          </a:p>
          <a:p>
            <a:pPr>
              <a:buNone/>
            </a:pPr>
            <a:endParaRPr lang="tr-TR" dirty="0"/>
          </a:p>
          <a:p>
            <a:pPr>
              <a:buNone/>
            </a:pPr>
            <a:endParaRPr lang="tr-TR" dirty="0"/>
          </a:p>
          <a:p>
            <a:pPr>
              <a:buNone/>
            </a:pPr>
            <a:endParaRPr lang="tr-TR" dirty="0"/>
          </a:p>
          <a:p>
            <a:pPr>
              <a:buNone/>
            </a:pPr>
            <a:endParaRPr lang="tr-TR" dirty="0"/>
          </a:p>
        </p:txBody>
      </p:sp>
    </p:spTree>
    <p:extLst>
      <p:ext uri="{BB962C8B-B14F-4D97-AF65-F5344CB8AC3E}">
        <p14:creationId xmlns:p14="http://schemas.microsoft.com/office/powerpoint/2010/main" val="1417103442"/>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90B78C5-7B80-0F88-671A-58777B485F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3C9ACAD-D089-742A-3BA4-3F06EF09A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52BE8DA-1600-34CE-03A0-35D9150C28F2}"/>
              </a:ext>
            </a:extLst>
          </p:cNvPr>
          <p:cNvSpPr>
            <a:spLocks noGrp="1"/>
          </p:cNvSpPr>
          <p:nvPr>
            <p:ph type="title"/>
          </p:nvPr>
        </p:nvSpPr>
        <p:spPr>
          <a:xfrm>
            <a:off x="4387647" y="347791"/>
            <a:ext cx="2091812" cy="803275"/>
          </a:xfrm>
        </p:spPr>
        <p:txBody>
          <a:bodyPr>
            <a:normAutofit/>
          </a:bodyPr>
          <a:lstStyle/>
          <a:p>
            <a:pPr algn="ctr"/>
            <a:r>
              <a:rPr lang="tr-TR" sz="4000" dirty="0"/>
              <a:t>Sonuç</a:t>
            </a:r>
            <a:endParaRPr lang="tr-TR" sz="4000" b="1" dirty="0"/>
          </a:p>
        </p:txBody>
      </p:sp>
      <p:sp>
        <p:nvSpPr>
          <p:cNvPr id="10" name="Rectangle 9">
            <a:extLst>
              <a:ext uri="{FF2B5EF4-FFF2-40B4-BE49-F238E27FC236}">
                <a16:creationId xmlns:a16="http://schemas.microsoft.com/office/drawing/2014/main" id="{E89B32EC-33B7-DA44-7481-F8D6A071F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7" name="İçerik Yer Tutucusu 6">
            <a:extLst>
              <a:ext uri="{FF2B5EF4-FFF2-40B4-BE49-F238E27FC236}">
                <a16:creationId xmlns:a16="http://schemas.microsoft.com/office/drawing/2014/main" id="{DEB3E1CA-D04A-22B7-0CF6-3ECE58D659D1}"/>
              </a:ext>
            </a:extLst>
          </p:cNvPr>
          <p:cNvSpPr>
            <a:spLocks noGrp="1"/>
          </p:cNvSpPr>
          <p:nvPr>
            <p:ph idx="1"/>
          </p:nvPr>
        </p:nvSpPr>
        <p:spPr>
          <a:xfrm>
            <a:off x="141929" y="1571906"/>
            <a:ext cx="10993742" cy="5154613"/>
          </a:xfrm>
        </p:spPr>
        <p:txBody>
          <a:bodyPr>
            <a:noAutofit/>
          </a:bodyPr>
          <a:lstStyle/>
          <a:p>
            <a:pPr>
              <a:lnSpc>
                <a:spcPct val="150000"/>
              </a:lnSpc>
              <a:buNone/>
            </a:pPr>
            <a:r>
              <a:rPr lang="tr-TR" sz="2200" dirty="0"/>
              <a:t>Bu proje, bir </a:t>
            </a:r>
            <a:r>
              <a:rPr lang="tr-TR" sz="2200" dirty="0" err="1"/>
              <a:t>PLC’nin</a:t>
            </a:r>
            <a:r>
              <a:rPr lang="tr-TR" sz="2200" dirty="0"/>
              <a:t> iç mimarisini </a:t>
            </a:r>
            <a:r>
              <a:rPr lang="tr-TR" sz="2200" dirty="0" err="1"/>
              <a:t>Von</a:t>
            </a:r>
            <a:r>
              <a:rPr lang="tr-TR" sz="2200" dirty="0"/>
              <a:t> Neumann Modeli ve </a:t>
            </a:r>
            <a:r>
              <a:rPr lang="tr-TR" sz="2200" dirty="0" err="1"/>
              <a:t>Polling</a:t>
            </a:r>
            <a:r>
              <a:rPr lang="tr-TR" sz="2200" dirty="0"/>
              <a:t> (Yoklama) yöntemleri kullanarak simüle eden kapsamlı bir sistem </a:t>
            </a:r>
            <a:r>
              <a:rPr lang="tr-TR" sz="2200" dirty="0" err="1"/>
              <a:t>tasarımıdır.Yazılım</a:t>
            </a:r>
            <a:r>
              <a:rPr lang="tr-TR" sz="2200" dirty="0"/>
              <a:t>; Multi-</a:t>
            </a:r>
            <a:r>
              <a:rPr lang="tr-TR" sz="2200" dirty="0" err="1"/>
              <a:t>threading</a:t>
            </a:r>
            <a:r>
              <a:rPr lang="tr-TR" sz="2200" dirty="0"/>
              <a:t> yapısı sayesinde gerçek zamanlı (Real-Time) bir döngüde çalışmakta, </a:t>
            </a:r>
            <a:r>
              <a:rPr lang="tr-TR" sz="2200" dirty="0" err="1"/>
              <a:t>State</a:t>
            </a:r>
            <a:r>
              <a:rPr lang="tr-TR" sz="2200" dirty="0"/>
              <a:t> Machine (Durum Makinesi) ile farklı senaryoları deterministik olarak yönetmekte ve Memory </a:t>
            </a:r>
            <a:r>
              <a:rPr lang="tr-TR" sz="2200" dirty="0" err="1"/>
              <a:t>Mapped</a:t>
            </a:r>
            <a:r>
              <a:rPr lang="tr-TR" sz="2200" dirty="0"/>
              <a:t> I/O tekniği ile donanım adreslemesini </a:t>
            </a:r>
            <a:r>
              <a:rPr lang="tr-TR" sz="2200" dirty="0" err="1"/>
              <a:t>modellemektedir.Sonuç</a:t>
            </a:r>
            <a:r>
              <a:rPr lang="tr-TR" sz="2200" dirty="0"/>
              <a:t> olarak; endüstriyel bir kontrol cihazının "</a:t>
            </a:r>
            <a:r>
              <a:rPr lang="tr-TR" sz="2200" dirty="0" err="1"/>
              <a:t>Fetch-Decode-Execute</a:t>
            </a:r>
            <a:r>
              <a:rPr lang="tr-TR" sz="2200" dirty="0"/>
              <a:t>" döngüsü, standart bir bilgisayar üzerinde birebir kurgulanmış ve kesintisiz çalışan canlı bir otomasyon çekirdeği oluşturulmuştur.</a:t>
            </a:r>
          </a:p>
        </p:txBody>
      </p:sp>
    </p:spTree>
    <p:extLst>
      <p:ext uri="{BB962C8B-B14F-4D97-AF65-F5344CB8AC3E}">
        <p14:creationId xmlns:p14="http://schemas.microsoft.com/office/powerpoint/2010/main" val="278517372"/>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306DD34-C1F8-41B6-AA81-2B0D542DAB5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28BC2C-29D5-29E2-07EB-D2FCBAEE9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912E3F6B-FD6E-6A62-46E5-A43A586E042F}"/>
              </a:ext>
            </a:extLst>
          </p:cNvPr>
          <p:cNvSpPr>
            <a:spLocks noGrp="1"/>
          </p:cNvSpPr>
          <p:nvPr>
            <p:ph type="title"/>
          </p:nvPr>
        </p:nvSpPr>
        <p:spPr>
          <a:xfrm>
            <a:off x="953731" y="550045"/>
            <a:ext cx="9301314" cy="2625776"/>
          </a:xfrm>
        </p:spPr>
        <p:txBody>
          <a:bodyPr>
            <a:normAutofit/>
          </a:bodyPr>
          <a:lstStyle/>
          <a:p>
            <a:pPr algn="ctr"/>
            <a:r>
              <a:rPr lang="tr-TR" sz="5000" b="1" dirty="0"/>
              <a:t>Teşekkürler</a:t>
            </a:r>
          </a:p>
        </p:txBody>
      </p:sp>
      <p:sp>
        <p:nvSpPr>
          <p:cNvPr id="10" name="Rectangle 9">
            <a:extLst>
              <a:ext uri="{FF2B5EF4-FFF2-40B4-BE49-F238E27FC236}">
                <a16:creationId xmlns:a16="http://schemas.microsoft.com/office/drawing/2014/main" id="{91B5BB11-8A48-54D4-A303-6A227733D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1651122014"/>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Manzara">
  <a:themeElements>
    <a:clrScheme name="Manzara">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Manzara">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nzara">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
  <TotalTime>181</TotalTime>
  <Words>2188</Words>
  <Application>Microsoft Office PowerPoint</Application>
  <PresentationFormat>Geniş ekran</PresentationFormat>
  <Paragraphs>244</Paragraphs>
  <Slides>29</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29</vt:i4>
      </vt:variant>
    </vt:vector>
  </HeadingPairs>
  <TitlesOfParts>
    <vt:vector size="33" baseType="lpstr">
      <vt:lpstr>Arial</vt:lpstr>
      <vt:lpstr>Century Schoolbook</vt:lpstr>
      <vt:lpstr>Wingdings 2</vt:lpstr>
      <vt:lpstr>Manzara</vt:lpstr>
      <vt:lpstr>Mini Akıllı Fabrika - PLC Simulator Projesi</vt:lpstr>
      <vt:lpstr>Projenin Amacı</vt:lpstr>
      <vt:lpstr>PLC Nedir?</vt:lpstr>
      <vt:lpstr>Von Neumann Mimarisi</vt:lpstr>
      <vt:lpstr>Sistemin Genel Yapısı</vt:lpstr>
      <vt:lpstr>Sistemin Genel Yapısı</vt:lpstr>
      <vt:lpstr>Bellek Yapısı (Memory Map)</vt:lpstr>
      <vt:lpstr>Bellek Yapısı (Memory Map)</vt:lpstr>
      <vt:lpstr>Sensörlerin Ayrıntılı İncelenmesi</vt:lpstr>
      <vt:lpstr>Sensörlerin Ayrıntılı İncelenmesi</vt:lpstr>
      <vt:lpstr>Aktüatörler</vt:lpstr>
      <vt:lpstr>Ladder Logic Mantığı</vt:lpstr>
      <vt:lpstr>Ladder Logic Mantığı</vt:lpstr>
      <vt:lpstr>PID Kontrolörün Mantığı</vt:lpstr>
      <vt:lpstr>PLC Tarama Döngüsü (Scan Cycle)</vt:lpstr>
      <vt:lpstr>HMI (İnsan–Makine Arayüzü) Simülasyonu</vt:lpstr>
      <vt:lpstr>Sistemin Çalışması</vt:lpstr>
      <vt:lpstr>Sistemin Çalışması</vt:lpstr>
      <vt:lpstr>Sistemin Çalışması</vt:lpstr>
      <vt:lpstr>Sistemin Çalışması</vt:lpstr>
      <vt:lpstr>Sistemin Çalışması</vt:lpstr>
      <vt:lpstr>Sistemin Çalışması</vt:lpstr>
      <vt:lpstr>Çalışma Esnasında Ekranda Neler Değişir?</vt:lpstr>
      <vt:lpstr>Çalışma Esnasında Ekranda Neler Değişir?</vt:lpstr>
      <vt:lpstr>Kullanıcı Programı Nasıl Kullanır?</vt:lpstr>
      <vt:lpstr>Mimari Olarak Ne Modellendi?</vt:lpstr>
      <vt:lpstr>Projenin Sağladığı Teknik Kazanımlar</vt:lpstr>
      <vt:lpstr>Sonuç</vt:lpstr>
      <vt:lpstr>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Emir ILGAR</dc:creator>
  <cp:lastModifiedBy>Emir ILGAR</cp:lastModifiedBy>
  <cp:revision>4</cp:revision>
  <dcterms:created xsi:type="dcterms:W3CDTF">2025-12-27T12:51:50Z</dcterms:created>
  <dcterms:modified xsi:type="dcterms:W3CDTF">2026-01-05T17:36:04Z</dcterms:modified>
</cp:coreProperties>
</file>